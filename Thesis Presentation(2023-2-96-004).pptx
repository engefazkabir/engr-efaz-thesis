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289" r:id="rId33"/>
    <p:sldId id="288"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Lst>
  <p:sldSz cx="18288000" cy="10287000"/>
  <p:notesSz cx="6858000" cy="9144000"/>
  <p:embeddedFontLst>
    <p:embeddedFont>
      <p:font typeface="Calibri" panose="020F0502020204030204" pitchFamily="34" charset="0"/>
      <p:regular r:id="rId76"/>
      <p:bold r:id="rId77"/>
      <p:italic r:id="rId78"/>
      <p:boldItalic r:id="rId79"/>
    </p:embeddedFont>
    <p:embeddedFont>
      <p:font typeface="Open Sans" panose="020B0606030504020204" pitchFamily="34" charset="0"/>
      <p:regular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autoAdjust="0"/>
    <p:restoredTop sz="94592" autoAdjust="0"/>
  </p:normalViewPr>
  <p:slideViewPr>
    <p:cSldViewPr showGuides="1">
      <p:cViewPr varScale="1">
        <p:scale>
          <a:sx n="60" d="100"/>
          <a:sy n="60" d="100"/>
        </p:scale>
        <p:origin x="86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5DFF9D-67EE-224A-9179-2B82EAB1D5B4}" type="datetimeFigureOut">
              <a:rPr lang="en-US" smtClean="0"/>
              <a:t>12/26/24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50FC25-3991-8B4A-B35A-51B676D80D69}" type="slidenum">
              <a:rPr lang="en-US" smtClean="0"/>
              <a:t>‹#›</a:t>
            </a:fld>
            <a:endParaRPr lang="en-US"/>
          </a:p>
        </p:txBody>
      </p:sp>
    </p:spTree>
    <p:extLst>
      <p:ext uri="{BB962C8B-B14F-4D97-AF65-F5344CB8AC3E}">
        <p14:creationId xmlns:p14="http://schemas.microsoft.com/office/powerpoint/2010/main" val="1984312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50FC25-3991-8B4A-B35A-51B676D80D69}" type="slidenum">
              <a:rPr lang="en-US" smtClean="0"/>
              <a:t>24</a:t>
            </a:fld>
            <a:endParaRPr lang="en-US"/>
          </a:p>
        </p:txBody>
      </p:sp>
    </p:spTree>
    <p:extLst>
      <p:ext uri="{BB962C8B-B14F-4D97-AF65-F5344CB8AC3E}">
        <p14:creationId xmlns:p14="http://schemas.microsoft.com/office/powerpoint/2010/main" val="159295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12/26/24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12/26/24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12/26/24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12/26/24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12/26/24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2" name="Freeform 2"/>
          <p:cNvSpPr/>
          <p:nvPr/>
        </p:nvSpPr>
        <p:spPr>
          <a:xfrm>
            <a:off x="1028700" y="1216555"/>
            <a:ext cx="3074474" cy="1755245"/>
          </a:xfrm>
          <a:custGeom>
            <a:avLst/>
            <a:gdLst/>
            <a:ahLst/>
            <a:cxnLst/>
            <a:rect l="l" t="t" r="r" b="b"/>
            <a:pathLst>
              <a:path w="3074474" h="1755245">
                <a:moveTo>
                  <a:pt x="0" y="0"/>
                </a:moveTo>
                <a:lnTo>
                  <a:pt x="3074474" y="0"/>
                </a:lnTo>
                <a:lnTo>
                  <a:pt x="3074474" y="1755245"/>
                </a:lnTo>
                <a:lnTo>
                  <a:pt x="0" y="175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477675"/>
            <a:ext cx="16439645" cy="8856859"/>
          </a:xfrm>
          <a:custGeom>
            <a:avLst/>
            <a:gdLst/>
            <a:ahLst/>
            <a:cxnLst/>
            <a:rect l="l" t="t" r="r" b="b"/>
            <a:pathLst>
              <a:path w="16439645" h="8856859">
                <a:moveTo>
                  <a:pt x="0" y="0"/>
                </a:moveTo>
                <a:lnTo>
                  <a:pt x="16439645" y="0"/>
                </a:lnTo>
                <a:lnTo>
                  <a:pt x="16439645" y="8856858"/>
                </a:lnTo>
                <a:lnTo>
                  <a:pt x="0" y="8856858"/>
                </a:lnTo>
                <a:lnTo>
                  <a:pt x="0" y="0"/>
                </a:lnTo>
                <a:close/>
              </a:path>
            </a:pathLst>
          </a:custGeom>
          <a:blipFill>
            <a:blip r:embed="rId4"/>
            <a:stretch>
              <a:fillRect/>
            </a:stretch>
          </a:blipFill>
        </p:spPr>
      </p:sp>
      <p:sp>
        <p:nvSpPr>
          <p:cNvPr id="4" name="TextBox 3"/>
          <p:cNvSpPr txBox="1"/>
          <p:nvPr/>
        </p:nvSpPr>
        <p:spPr>
          <a:xfrm flipH="1">
            <a:off x="3581400" y="1086389"/>
            <a:ext cx="12649201" cy="1877437"/>
          </a:xfrm>
          <a:prstGeom prst="rect">
            <a:avLst/>
          </a:prstGeom>
          <a:noFill/>
        </p:spPr>
        <p:txBody>
          <a:bodyPr wrap="square" rtlCol="0">
            <a:spAutoFit/>
          </a:bodyPr>
          <a:lstStyle/>
          <a:p>
            <a:r>
              <a:rPr lang="en-US" sz="3600" b="1" dirty="0">
                <a:latin typeface="Times New Roman" panose="02020503050405090304" pitchFamily="18" charset="0"/>
                <a:cs typeface="Times New Roman" panose="02020503050405090304" pitchFamily="18" charset="0"/>
              </a:rPr>
              <a:t>Title : Facial Expression Analysis Using Cosine-Based Local Transitional Patterns with Dynamic Radius Adjustment</a:t>
            </a:r>
          </a:p>
          <a:p>
            <a:endParaRPr lang="en-US" sz="4400" dirty="0"/>
          </a:p>
        </p:txBody>
      </p:sp>
      <p:sp>
        <p:nvSpPr>
          <p:cNvPr id="5" name="TextBox 4"/>
          <p:cNvSpPr txBox="1"/>
          <p:nvPr/>
        </p:nvSpPr>
        <p:spPr>
          <a:xfrm>
            <a:off x="2362200" y="6496150"/>
            <a:ext cx="8763000" cy="2799715"/>
          </a:xfrm>
          <a:prstGeom prst="rect">
            <a:avLst/>
          </a:prstGeom>
          <a:noFill/>
        </p:spPr>
        <p:txBody>
          <a:bodyPr wrap="square" rtlCol="0">
            <a:spAutoFit/>
          </a:bodyPr>
          <a:lstStyle/>
          <a:p>
            <a:r>
              <a:rPr lang="en-US" sz="2400" b="1" dirty="0">
                <a:latin typeface="Times New Roman" panose="02020503050405090304" pitchFamily="18" charset="0"/>
                <a:cs typeface="Times New Roman" panose="02020503050405090304" pitchFamily="18" charset="0"/>
              </a:rPr>
              <a:t>Candidate: </a:t>
            </a:r>
          </a:p>
          <a:p>
            <a:r>
              <a:rPr lang="en-US" sz="2400" b="1" dirty="0" err="1">
                <a:latin typeface="Times New Roman" panose="02020503050405090304" pitchFamily="18" charset="0"/>
                <a:cs typeface="Times New Roman" panose="02020503050405090304" pitchFamily="18" charset="0"/>
              </a:rPr>
              <a:t>Efaz</a:t>
            </a:r>
            <a:r>
              <a:rPr lang="en-US" sz="2400" b="1" dirty="0">
                <a:latin typeface="Times New Roman" panose="02020503050405090304" pitchFamily="18" charset="0"/>
                <a:cs typeface="Times New Roman" panose="02020503050405090304" pitchFamily="18" charset="0"/>
              </a:rPr>
              <a:t> Kabir</a:t>
            </a:r>
          </a:p>
          <a:p>
            <a:r>
              <a:rPr lang="en-US" sz="2400" b="1" dirty="0">
                <a:latin typeface="Times New Roman" panose="02020503050405090304" pitchFamily="18" charset="0"/>
                <a:cs typeface="Times New Roman" panose="02020503050405090304" pitchFamily="18" charset="0"/>
              </a:rPr>
              <a:t>ID : 2023-2-96-004</a:t>
            </a:r>
          </a:p>
          <a:p>
            <a:r>
              <a:rPr lang="en-US" sz="2400" b="1" dirty="0">
                <a:latin typeface="Times New Roman" panose="02020503050405090304" pitchFamily="18" charset="0"/>
                <a:cs typeface="Times New Roman" panose="02020503050405090304" pitchFamily="18" charset="0"/>
              </a:rPr>
              <a:t>Master of Science in Computer Science and Engineering</a:t>
            </a:r>
            <a:br>
              <a:rPr lang="en-US" sz="2400" b="1" dirty="0">
                <a:latin typeface="Times New Roman" panose="02020503050405090304" pitchFamily="18" charset="0"/>
                <a:cs typeface="Times New Roman" panose="02020503050405090304" pitchFamily="18" charset="0"/>
              </a:rPr>
            </a:br>
            <a:r>
              <a:rPr lang="en-US" sz="2400" b="1" dirty="0">
                <a:latin typeface="Times New Roman" panose="02020503050405090304" pitchFamily="18" charset="0"/>
                <a:cs typeface="Times New Roman" panose="02020503050405090304" pitchFamily="18" charset="0"/>
              </a:rPr>
              <a:t>East West University, Dhaka, Bangladesh</a:t>
            </a:r>
          </a:p>
          <a:p>
            <a:endParaRPr lang="en-US" sz="2800" dirty="0">
              <a:latin typeface="Times New Roman" panose="02020503050405090304" pitchFamily="18" charset="0"/>
              <a:cs typeface="Times New Roman" panose="02020503050405090304" pitchFamily="18" charset="0"/>
            </a:endParaRPr>
          </a:p>
          <a:p>
            <a:endParaRPr lang="en-US" sz="2800" dirty="0">
              <a:latin typeface="Times New Roman" panose="02020503050405090304" pitchFamily="18" charset="0"/>
              <a:cs typeface="Times New Roman" panose="02020503050405090304" pitchFamily="18" charset="0"/>
            </a:endParaRPr>
          </a:p>
        </p:txBody>
      </p:sp>
      <p:sp>
        <p:nvSpPr>
          <p:cNvPr id="6" name="TextBox 5"/>
          <p:cNvSpPr txBox="1"/>
          <p:nvPr/>
        </p:nvSpPr>
        <p:spPr>
          <a:xfrm>
            <a:off x="10591800" y="6527705"/>
            <a:ext cx="7896003" cy="3446145"/>
          </a:xfrm>
          <a:prstGeom prst="rect">
            <a:avLst/>
          </a:prstGeom>
          <a:noFill/>
        </p:spPr>
        <p:txBody>
          <a:bodyPr wrap="square" rtlCol="0">
            <a:spAutoFit/>
          </a:bodyPr>
          <a:lstStyle/>
          <a:p>
            <a:r>
              <a:rPr lang="en-US" sz="2400" b="1" dirty="0">
                <a:latin typeface="Times New Roman" panose="02020503050405090304" pitchFamily="18" charset="0"/>
                <a:cs typeface="Times New Roman" panose="02020503050405090304" pitchFamily="18" charset="0"/>
              </a:rPr>
              <a:t>Supervisor:</a:t>
            </a:r>
          </a:p>
          <a:p>
            <a:r>
              <a:rPr lang="en-US" sz="2400" b="1" dirty="0">
                <a:latin typeface="Times New Roman" panose="02020503050405090304" pitchFamily="18" charset="0"/>
                <a:cs typeface="Times New Roman" panose="02020503050405090304" pitchFamily="18" charset="0"/>
              </a:rPr>
              <a:t>Dr. </a:t>
            </a:r>
            <a:r>
              <a:rPr lang="en-US" sz="2400" b="1" dirty="0" err="1">
                <a:latin typeface="Times New Roman" panose="02020503050405090304" pitchFamily="18" charset="0"/>
                <a:cs typeface="Times New Roman" panose="02020503050405090304" pitchFamily="18" charset="0"/>
              </a:rPr>
              <a:t>Taskeed</a:t>
            </a:r>
            <a:r>
              <a:rPr lang="en-US" sz="2400" b="1" dirty="0">
                <a:latin typeface="Times New Roman" panose="02020503050405090304" pitchFamily="18" charset="0"/>
                <a:cs typeface="Times New Roman" panose="02020503050405090304" pitchFamily="18" charset="0"/>
              </a:rPr>
              <a:t> </a:t>
            </a:r>
            <a:r>
              <a:rPr lang="en-US" sz="2400" b="1" dirty="0" err="1">
                <a:latin typeface="Times New Roman" panose="02020503050405090304" pitchFamily="18" charset="0"/>
                <a:cs typeface="Times New Roman" panose="02020503050405090304" pitchFamily="18" charset="0"/>
              </a:rPr>
              <a:t>Jabid</a:t>
            </a:r>
            <a:r>
              <a:rPr lang="en-US" sz="2400" b="1" dirty="0">
                <a:latin typeface="Times New Roman" panose="02020503050405090304" pitchFamily="18" charset="0"/>
                <a:cs typeface="Times New Roman" panose="02020503050405090304" pitchFamily="18" charset="0"/>
              </a:rPr>
              <a:t> </a:t>
            </a:r>
          </a:p>
          <a:p>
            <a:r>
              <a:rPr lang="en-US" sz="2400" b="1" dirty="0">
                <a:latin typeface="Times New Roman" panose="02020503050405090304" pitchFamily="18" charset="0"/>
                <a:cs typeface="Times New Roman" panose="02020503050405090304" pitchFamily="18" charset="0"/>
              </a:rPr>
              <a:t>Professor</a:t>
            </a:r>
          </a:p>
          <a:p>
            <a:r>
              <a:rPr lang="en-US" sz="2400" b="1" dirty="0">
                <a:latin typeface="Times New Roman" panose="02020503050405090304" pitchFamily="18" charset="0"/>
                <a:cs typeface="Times New Roman" panose="02020503050405090304" pitchFamily="18" charset="0"/>
              </a:rPr>
              <a:t>Department of Computer Science and Engineering </a:t>
            </a:r>
          </a:p>
          <a:p>
            <a:r>
              <a:rPr lang="en-US" sz="2400" b="1" dirty="0">
                <a:latin typeface="Times New Roman" panose="02020503050405090304" pitchFamily="18" charset="0"/>
                <a:cs typeface="Times New Roman" panose="02020503050405090304" pitchFamily="18" charset="0"/>
              </a:rPr>
              <a:t>East West University, Dhaka, Bangladesh</a:t>
            </a:r>
          </a:p>
          <a:p>
            <a:r>
              <a:rPr lang="en-US" sz="2400" dirty="0">
                <a:latin typeface="Times New Roman" panose="02020503050405090304" pitchFamily="18" charset="0"/>
                <a:cs typeface="Times New Roman" panose="02020503050405090304" pitchFamily="18" charset="0"/>
              </a:rPr>
              <a:t> </a:t>
            </a:r>
          </a:p>
          <a:p>
            <a:endParaRPr lang="en-US" sz="2800" dirty="0">
              <a:latin typeface="Times New Roman" panose="02020503050405090304" pitchFamily="18" charset="0"/>
              <a:cs typeface="Times New Roman" panose="02020503050405090304" pitchFamily="18" charset="0"/>
            </a:endParaRPr>
          </a:p>
          <a:p>
            <a:r>
              <a:rPr lang="en-US" sz="2800" dirty="0">
                <a:latin typeface="Times New Roman" panose="02020503050405090304" pitchFamily="18" charset="0"/>
                <a:cs typeface="Times New Roman" panose="02020503050405090304" pitchFamily="18" charset="0"/>
              </a:rPr>
              <a:t> </a:t>
            </a:r>
          </a:p>
          <a:p>
            <a:endParaRPr lang="en-US" dirty="0"/>
          </a:p>
        </p:txBody>
      </p:sp>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80128" y="3218567"/>
            <a:ext cx="3392672" cy="2196694"/>
          </a:xfrm>
          <a:prstGeom prst="rect">
            <a:avLst/>
          </a:prstGeom>
        </p:spPr>
      </p:pic>
      <p:sp>
        <p:nvSpPr>
          <p:cNvPr id="7" name="TextBox 6">
            <a:extLst>
              <a:ext uri="{FF2B5EF4-FFF2-40B4-BE49-F238E27FC236}">
                <a16:creationId xmlns:a16="http://schemas.microsoft.com/office/drawing/2014/main" id="{3CE7BDE8-68A6-7A4D-9E03-94CAC791B556}"/>
              </a:ext>
            </a:extLst>
          </p:cNvPr>
          <p:cNvSpPr txBox="1"/>
          <p:nvPr/>
        </p:nvSpPr>
        <p:spPr>
          <a:xfrm>
            <a:off x="15773400" y="9578492"/>
            <a:ext cx="2514600"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Page  No :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2" name="Freeform 2"/>
          <p:cNvSpPr/>
          <p:nvPr/>
        </p:nvSpPr>
        <p:spPr>
          <a:xfrm>
            <a:off x="0" y="-16436"/>
            <a:ext cx="18603449" cy="10319872"/>
          </a:xfrm>
          <a:custGeom>
            <a:avLst/>
            <a:gdLst/>
            <a:ahLst/>
            <a:cxnLst/>
            <a:rect l="l" t="t" r="r" b="b"/>
            <a:pathLst>
              <a:path w="18603449" h="10319872">
                <a:moveTo>
                  <a:pt x="0" y="0"/>
                </a:moveTo>
                <a:lnTo>
                  <a:pt x="18603449" y="0"/>
                </a:lnTo>
                <a:lnTo>
                  <a:pt x="18603449" y="10319872"/>
                </a:lnTo>
                <a:lnTo>
                  <a:pt x="0" y="10319872"/>
                </a:lnTo>
                <a:lnTo>
                  <a:pt x="0" y="0"/>
                </a:lnTo>
                <a:close/>
              </a:path>
            </a:pathLst>
          </a:custGeom>
          <a:blipFill>
            <a:blip r:embed="rId2"/>
            <a:stretch>
              <a:fillRect l="-1482" r="-1482"/>
            </a:stretch>
          </a:blipFill>
        </p:spPr>
      </p:sp>
      <p:grpSp>
        <p:nvGrpSpPr>
          <p:cNvPr id="3" name="Group 3"/>
          <p:cNvGrpSpPr/>
          <p:nvPr/>
        </p:nvGrpSpPr>
        <p:grpSpPr>
          <a:xfrm>
            <a:off x="1000967" y="1028700"/>
            <a:ext cx="16286065" cy="8229600"/>
            <a:chOff x="0" y="0"/>
            <a:chExt cx="4289334" cy="2167467"/>
          </a:xfrm>
        </p:grpSpPr>
        <p:sp>
          <p:nvSpPr>
            <p:cNvPr id="4" name="Freeform 4"/>
            <p:cNvSpPr/>
            <p:nvPr/>
          </p:nvSpPr>
          <p:spPr>
            <a:xfrm>
              <a:off x="0" y="0"/>
              <a:ext cx="4289334" cy="2167467"/>
            </a:xfrm>
            <a:custGeom>
              <a:avLst/>
              <a:gdLst/>
              <a:ahLst/>
              <a:cxnLst/>
              <a:rect l="l" t="t" r="r" b="b"/>
              <a:pathLst>
                <a:path w="4289334" h="2167467">
                  <a:moveTo>
                    <a:pt x="24244" y="0"/>
                  </a:moveTo>
                  <a:lnTo>
                    <a:pt x="4265090" y="0"/>
                  </a:lnTo>
                  <a:cubicBezTo>
                    <a:pt x="4271520" y="0"/>
                    <a:pt x="4277687" y="2554"/>
                    <a:pt x="4282233" y="7101"/>
                  </a:cubicBezTo>
                  <a:cubicBezTo>
                    <a:pt x="4286780" y="11647"/>
                    <a:pt x="4289334" y="17814"/>
                    <a:pt x="4289334" y="24244"/>
                  </a:cubicBezTo>
                  <a:lnTo>
                    <a:pt x="4289334" y="2143223"/>
                  </a:lnTo>
                  <a:cubicBezTo>
                    <a:pt x="4289334" y="2156612"/>
                    <a:pt x="4278480" y="2167467"/>
                    <a:pt x="4265090" y="2167467"/>
                  </a:cubicBezTo>
                  <a:lnTo>
                    <a:pt x="24244" y="2167467"/>
                  </a:lnTo>
                  <a:cubicBezTo>
                    <a:pt x="17814" y="2167467"/>
                    <a:pt x="11647" y="2164912"/>
                    <a:pt x="7101" y="2160366"/>
                  </a:cubicBezTo>
                  <a:cubicBezTo>
                    <a:pt x="2554" y="2155819"/>
                    <a:pt x="0" y="2149653"/>
                    <a:pt x="0" y="2143223"/>
                  </a:cubicBezTo>
                  <a:lnTo>
                    <a:pt x="0" y="24244"/>
                  </a:lnTo>
                  <a:cubicBezTo>
                    <a:pt x="0" y="17814"/>
                    <a:pt x="2554" y="11647"/>
                    <a:pt x="7101" y="7101"/>
                  </a:cubicBezTo>
                  <a:cubicBezTo>
                    <a:pt x="11647" y="2554"/>
                    <a:pt x="17814" y="0"/>
                    <a:pt x="24244" y="0"/>
                  </a:cubicBezTo>
                  <a:close/>
                </a:path>
              </a:pathLst>
            </a:custGeom>
            <a:solidFill>
              <a:srgbClr val="414567"/>
            </a:solidFill>
          </p:spPr>
        </p:sp>
        <p:sp>
          <p:nvSpPr>
            <p:cNvPr id="5" name="TextBox 5"/>
            <p:cNvSpPr txBox="1"/>
            <p:nvPr/>
          </p:nvSpPr>
          <p:spPr>
            <a:xfrm>
              <a:off x="0" y="-38100"/>
              <a:ext cx="4289334" cy="2205567"/>
            </a:xfrm>
            <a:prstGeom prst="rect">
              <a:avLst/>
            </a:prstGeom>
          </p:spPr>
          <p:txBody>
            <a:bodyPr lIns="50800" tIns="50800" rIns="50800" bIns="50800" rtlCol="0" anchor="ctr"/>
            <a:lstStyle/>
            <a:p>
              <a:pPr algn="ctr">
                <a:lnSpc>
                  <a:spcPts val="2660"/>
                </a:lnSpc>
              </a:pPr>
              <a:endParaRPr lang="en-US" sz="1900" dirty="0">
                <a:solidFill>
                  <a:srgbClr val="000000"/>
                </a:solidFill>
                <a:latin typeface="Open Sans" panose="020B0606030504020204"/>
                <a:ea typeface="Open Sans" panose="020B0606030504020204"/>
                <a:cs typeface="Open Sans" panose="020B0606030504020204"/>
                <a:sym typeface="Open Sans" panose="020B0606030504020204"/>
              </a:endParaRPr>
            </a:p>
          </p:txBody>
        </p:sp>
      </p:grpSp>
      <p:sp>
        <p:nvSpPr>
          <p:cNvPr id="6" name="TextBox 5">
            <a:extLst>
              <a:ext uri="{FF2B5EF4-FFF2-40B4-BE49-F238E27FC236}">
                <a16:creationId xmlns:a16="http://schemas.microsoft.com/office/drawing/2014/main" id="{10E160C3-BE2C-AC44-85B6-E2CB3E21CF84}"/>
              </a:ext>
            </a:extLst>
          </p:cNvPr>
          <p:cNvSpPr txBox="1"/>
          <p:nvPr/>
        </p:nvSpPr>
        <p:spPr>
          <a:xfrm>
            <a:off x="8077200" y="1318552"/>
            <a:ext cx="5105400" cy="830997"/>
          </a:xfrm>
          <a:prstGeom prst="rect">
            <a:avLst/>
          </a:prstGeom>
          <a:noFill/>
        </p:spPr>
        <p:txBody>
          <a:bodyPr wrap="square" rtlCol="0">
            <a:spAutoFit/>
          </a:bodyPr>
          <a:lstStyle/>
          <a:p>
            <a:r>
              <a:rPr lang="en-US" sz="4800" dirty="0">
                <a:solidFill>
                  <a:schemeClr val="bg1"/>
                </a:solidFill>
                <a:latin typeface="Times New Roman" panose="02020603050405020304" pitchFamily="18" charset="0"/>
                <a:cs typeface="Times New Roman" panose="02020603050405020304" pitchFamily="18" charset="0"/>
              </a:rPr>
              <a:t>  overview</a:t>
            </a:r>
          </a:p>
        </p:txBody>
      </p:sp>
      <p:sp>
        <p:nvSpPr>
          <p:cNvPr id="7" name="TextBox 6">
            <a:extLst>
              <a:ext uri="{FF2B5EF4-FFF2-40B4-BE49-F238E27FC236}">
                <a16:creationId xmlns:a16="http://schemas.microsoft.com/office/drawing/2014/main" id="{FB57E065-5742-4E4F-8F8A-B274B3169FE6}"/>
              </a:ext>
            </a:extLst>
          </p:cNvPr>
          <p:cNvSpPr txBox="1"/>
          <p:nvPr/>
        </p:nvSpPr>
        <p:spPr>
          <a:xfrm>
            <a:off x="3505200" y="2247900"/>
            <a:ext cx="3810000" cy="8710077"/>
          </a:xfrm>
          <a:prstGeom prst="rect">
            <a:avLst/>
          </a:prstGeom>
          <a:noFill/>
        </p:spPr>
        <p:txBody>
          <a:bodyPr wrap="square" rtlCol="0">
            <a:spAutoFit/>
          </a:bodyPr>
          <a:lstStyle/>
          <a:p>
            <a:pPr marL="457200" indent="-457200">
              <a:buFont typeface="Wingdings"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Introduction</a:t>
            </a:r>
          </a:p>
          <a:p>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Literature Review</a:t>
            </a:r>
          </a:p>
          <a:p>
            <a:pPr marL="457200" indent="-457200">
              <a:buFont typeface="Wingdings" pitchFamily="2" charset="2"/>
              <a:buChar char="Ø"/>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Methodology</a:t>
            </a:r>
          </a:p>
          <a:p>
            <a:pPr marL="457200" indent="-457200">
              <a:buFont typeface="Wingdings" pitchFamily="2" charset="2"/>
              <a:buChar char="Ø"/>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Results</a:t>
            </a:r>
          </a:p>
          <a:p>
            <a:pPr marL="457200" indent="-457200">
              <a:buFont typeface="Wingdings" pitchFamily="2" charset="2"/>
              <a:buChar char="Ø"/>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Discussion</a:t>
            </a:r>
          </a:p>
          <a:p>
            <a:pPr marL="457200" indent="-457200">
              <a:buFont typeface="Wingdings" pitchFamily="2" charset="2"/>
              <a:buChar char="Ø"/>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Conclusion</a:t>
            </a:r>
          </a:p>
          <a:p>
            <a:pPr marL="457200" indent="-457200">
              <a:buFont typeface="Wingdings" pitchFamily="2" charset="2"/>
              <a:buChar char="Ø"/>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References</a:t>
            </a:r>
          </a:p>
          <a:p>
            <a:pPr marL="457200" indent="-457200">
              <a:buFont typeface="Wingdings" pitchFamily="2" charset="2"/>
              <a:buChar char="Ø"/>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itchFamily="2" charset="2"/>
              <a:buChar char="Ø"/>
            </a:pPr>
            <a:r>
              <a:rPr lang="en-US" sz="2800" dirty="0">
                <a:solidFill>
                  <a:schemeClr val="bg1"/>
                </a:solidFill>
                <a:latin typeface="Times New Roman" panose="02020603050405020304" pitchFamily="18" charset="0"/>
                <a:cs typeface="Times New Roman" panose="02020603050405020304" pitchFamily="18" charset="0"/>
              </a:rPr>
              <a:t>Q&amp;A</a:t>
            </a:r>
          </a:p>
          <a:p>
            <a:pPr marL="457200" indent="-457200">
              <a:buFont typeface="Wingdings" pitchFamily="2" charset="2"/>
              <a:buChar char="Ø"/>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itchFamily="2" charset="2"/>
              <a:buChar char="Ø"/>
            </a:pP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p>
        </p:txBody>
      </p:sp>
      <p:sp>
        <p:nvSpPr>
          <p:cNvPr id="8" name="TextBox 7">
            <a:extLst>
              <a:ext uri="{FF2B5EF4-FFF2-40B4-BE49-F238E27FC236}">
                <a16:creationId xmlns:a16="http://schemas.microsoft.com/office/drawing/2014/main" id="{AF252A00-3719-C249-A376-01026B2A7186}"/>
              </a:ext>
            </a:extLst>
          </p:cNvPr>
          <p:cNvSpPr txBox="1"/>
          <p:nvPr/>
        </p:nvSpPr>
        <p:spPr>
          <a:xfrm>
            <a:off x="15621000" y="9550035"/>
            <a:ext cx="182880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Page No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4" name="Freeform 4"/>
          <p:cNvSpPr/>
          <p:nvPr/>
        </p:nvSpPr>
        <p:spPr>
          <a:xfrm>
            <a:off x="1997173" y="1825314"/>
            <a:ext cx="13907147" cy="1629520"/>
          </a:xfrm>
          <a:custGeom>
            <a:avLst/>
            <a:gdLst/>
            <a:ahLst/>
            <a:cxnLst/>
            <a:rect l="l" t="t" r="r" b="b"/>
            <a:pathLst>
              <a:path w="3793407" h="455916">
                <a:moveTo>
                  <a:pt x="27413" y="0"/>
                </a:moveTo>
                <a:lnTo>
                  <a:pt x="3765994" y="0"/>
                </a:lnTo>
                <a:cubicBezTo>
                  <a:pt x="3773264" y="0"/>
                  <a:pt x="3780237" y="2888"/>
                  <a:pt x="3785378" y="8029"/>
                </a:cubicBezTo>
                <a:cubicBezTo>
                  <a:pt x="3790519" y="13170"/>
                  <a:pt x="3793407" y="20143"/>
                  <a:pt x="3793407" y="27413"/>
                </a:cubicBezTo>
                <a:lnTo>
                  <a:pt x="3793407" y="428503"/>
                </a:lnTo>
                <a:cubicBezTo>
                  <a:pt x="3793407" y="443643"/>
                  <a:pt x="3781134" y="455916"/>
                  <a:pt x="3765994" y="455916"/>
                </a:cubicBezTo>
                <a:lnTo>
                  <a:pt x="27413" y="455916"/>
                </a:lnTo>
                <a:cubicBezTo>
                  <a:pt x="12273" y="455916"/>
                  <a:pt x="0" y="443643"/>
                  <a:pt x="0" y="428503"/>
                </a:cubicBezTo>
                <a:lnTo>
                  <a:pt x="0" y="27413"/>
                </a:lnTo>
                <a:cubicBezTo>
                  <a:pt x="0" y="12273"/>
                  <a:pt x="12273" y="0"/>
                  <a:pt x="27413" y="0"/>
                </a:cubicBezTo>
                <a:close/>
              </a:path>
            </a:pathLst>
          </a:custGeom>
          <a:solidFill>
            <a:srgbClr val="414567"/>
          </a:solidFill>
        </p:spPr>
      </p:sp>
      <p:sp>
        <p:nvSpPr>
          <p:cNvPr id="8" name="TextBox 8"/>
          <p:cNvSpPr txBox="1"/>
          <p:nvPr/>
        </p:nvSpPr>
        <p:spPr>
          <a:xfrm>
            <a:off x="6019798" y="-195348"/>
            <a:ext cx="6802103" cy="1122936"/>
          </a:xfrm>
          <a:prstGeom prst="rect">
            <a:avLst/>
          </a:prstGeom>
        </p:spPr>
        <p:txBody>
          <a:bodyPr lIns="0" tIns="0" rIns="0" bIns="0" rtlCol="0" anchor="t">
            <a:spAutoFit/>
          </a:bodyPr>
          <a:lstStyle/>
          <a:p>
            <a:pPr algn="ctr">
              <a:lnSpc>
                <a:spcPts val="10295"/>
              </a:lnSpc>
              <a:spcBef>
                <a:spcPct val="0"/>
              </a:spcBef>
            </a:pPr>
            <a:r>
              <a:rPr lang="en-US" sz="3600" b="1" dirty="0">
                <a:solidFill>
                  <a:srgbClr val="FBFBFC"/>
                </a:solidFill>
                <a:latin typeface="Times New Roman" panose="02020603050405020304" pitchFamily="18" charset="0"/>
                <a:ea typeface="Anantason SemiCondensed Bold"/>
                <a:cs typeface="Times New Roman" panose="02020603050405020304" pitchFamily="18" charset="0"/>
                <a:sym typeface="Anantason SemiCondensed Bold"/>
              </a:rPr>
              <a:t>Introduction</a:t>
            </a:r>
          </a:p>
        </p:txBody>
      </p:sp>
      <p:sp>
        <p:nvSpPr>
          <p:cNvPr id="6" name="TextBox 5">
            <a:extLst>
              <a:ext uri="{FF2B5EF4-FFF2-40B4-BE49-F238E27FC236}">
                <a16:creationId xmlns:a16="http://schemas.microsoft.com/office/drawing/2014/main" id="{5EFF3F63-0285-3448-A583-20C28E24CA82}"/>
              </a:ext>
            </a:extLst>
          </p:cNvPr>
          <p:cNvSpPr txBox="1"/>
          <p:nvPr/>
        </p:nvSpPr>
        <p:spPr>
          <a:xfrm>
            <a:off x="1117711" y="1002628"/>
            <a:ext cx="16606276" cy="8710077"/>
          </a:xfrm>
          <a:prstGeom prst="rect">
            <a:avLst/>
          </a:prstGeom>
          <a:noFill/>
        </p:spPr>
        <p:txBody>
          <a:bodyPr wrap="square" rtlCol="0">
            <a:spAutoFit/>
          </a:bodyPr>
          <a:lstStyle/>
          <a:p>
            <a:pPr algn="just"/>
            <a:r>
              <a:rPr lang="en-US" sz="2800" dirty="0">
                <a:solidFill>
                  <a:schemeClr val="bg1"/>
                </a:solidFill>
                <a:latin typeface="Times New Roman" panose="02020603050405020304" pitchFamily="18" charset="0"/>
                <a:cs typeface="Times New Roman" panose="02020603050405020304" pitchFamily="18" charset="0"/>
              </a:rPr>
              <a:t>The analysis of facial expressions is a pivotal aspect of affective computing, enhancing human- computer interactions and providing insights into emotional states. This thesis introduces a novel approach utilizing cosine-based local transitional patterns with dynamic radius adjustment to improve facial expression recognition accuracy. A rigorous evaluation of multiple machine learning algorithms—K-Nearest Neighbors (KNN), Support Vector Machines (SVM), Decision Trees, Random Forests, Logistic Regression, and Gradient Boosting—offers a comprehensive perspective on their efficacy. The experiments utilized the CK+ Extended dataset sourced from Kaggle, providing a rich dataset of labeled facial expressions.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dirty="0">
                <a:solidFill>
                  <a:schemeClr val="bg1"/>
                </a:solidFill>
                <a:latin typeface="Times New Roman" panose="02020603050405020304" pitchFamily="18" charset="0"/>
                <a:cs typeface="Times New Roman" panose="02020603050405020304" pitchFamily="18" charset="0"/>
              </a:rPr>
              <a:t>Among the evaluated models, Logistic Regression emerged as the optimal choice, achieving an accuracy of 85.87%, with precision and recall values of 82.05% and 85.87%, respectively, resulting in a robust F1 score of 83.05%. This model’s superior performance is attributed to its ability to discern subtle patterns in facial expressions while effectively mitigating false positives, thereby enhancing the reliability of emotion recognition systems. In comparison, Random Forest and Gradient Boosting achieved accuracies of 79.35% and 80.43%, respectively, but did not match the exceptional performance of Logistic Regression.</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dirty="0">
                <a:solidFill>
                  <a:schemeClr val="bg1"/>
                </a:solidFill>
                <a:latin typeface="Times New Roman" panose="02020603050405020304" pitchFamily="18" charset="0"/>
                <a:cs typeface="Times New Roman" panose="02020603050405020304" pitchFamily="18" charset="0"/>
              </a:rPr>
              <a:t>A comparative analysis with contemporary literature reveals that the proposed method surpasses traditional approaches, particularly in balancing precision and recall—critical factors in real-world applications. This research highlights the effectiveness of advanced algorithmic techniques and underscores the importance of model selection tailored to the complexities of facial expression data, contributing to the evolving landscape of emotion detection technologies and setting the stage for future innovations in human-computer interactions.</a:t>
            </a:r>
          </a:p>
        </p:txBody>
      </p:sp>
      <p:sp>
        <p:nvSpPr>
          <p:cNvPr id="7" name="TextBox 6">
            <a:extLst>
              <a:ext uri="{FF2B5EF4-FFF2-40B4-BE49-F238E27FC236}">
                <a16:creationId xmlns:a16="http://schemas.microsoft.com/office/drawing/2014/main" id="{C52C9640-F6A0-824E-BAA3-385571B92181}"/>
              </a:ext>
            </a:extLst>
          </p:cNvPr>
          <p:cNvSpPr txBox="1"/>
          <p:nvPr/>
        </p:nvSpPr>
        <p:spPr>
          <a:xfrm>
            <a:off x="15999528" y="9679921"/>
            <a:ext cx="2288472"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Page No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44F452CB-461D-D548-9131-4B3DF3EB638A}"/>
              </a:ext>
            </a:extLst>
          </p:cNvPr>
          <p:cNvSpPr txBox="1"/>
          <p:nvPr/>
        </p:nvSpPr>
        <p:spPr>
          <a:xfrm>
            <a:off x="1257300" y="334298"/>
            <a:ext cx="15773400" cy="9941183"/>
          </a:xfrm>
          <a:prstGeom prst="rect">
            <a:avLst/>
          </a:prstGeom>
          <a:noFill/>
        </p:spPr>
        <p:txBody>
          <a:bodyPr wrap="square" rtlCol="0">
            <a:spAutoFit/>
          </a:bodyPr>
          <a:lstStyle/>
          <a:p>
            <a:pPr lvl="1" algn="just"/>
            <a:endParaRPr lang="en-US" sz="3200" b="1" dirty="0">
              <a:solidFill>
                <a:schemeClr val="bg1"/>
              </a:solidFill>
              <a:latin typeface="Times New Roman" panose="02020603050405020304" pitchFamily="18" charset="0"/>
              <a:cs typeface="Times New Roman" panose="02020603050405020304" pitchFamily="18" charset="0"/>
            </a:endParaRPr>
          </a:p>
          <a:p>
            <a:pPr algn="just"/>
            <a:r>
              <a:rPr lang="en-US" sz="3200" b="1" dirty="0">
                <a:solidFill>
                  <a:schemeClr val="bg1"/>
                </a:solidFill>
                <a:latin typeface="Times New Roman" panose="02020603050405020304" pitchFamily="18" charset="0"/>
                <a:cs typeface="Times New Roman" panose="02020603050405020304" pitchFamily="18" charset="0"/>
              </a:rPr>
              <a:t>Background and Context</a:t>
            </a:r>
          </a:p>
          <a:p>
            <a:pPr algn="just"/>
            <a:endParaRPr lang="en-US" sz="3200" dirty="0">
              <a:solidFill>
                <a:schemeClr val="bg1"/>
              </a:solidFill>
              <a:latin typeface="Times New Roman" panose="02020603050405020304" pitchFamily="18" charset="0"/>
              <a:cs typeface="Times New Roman" panose="02020603050405020304" pitchFamily="18" charset="0"/>
            </a:endParaRPr>
          </a:p>
          <a:p>
            <a:pPr algn="just"/>
            <a:r>
              <a:rPr lang="en-US" sz="3200" b="1" dirty="0">
                <a:solidFill>
                  <a:schemeClr val="bg1"/>
                </a:solidFill>
                <a:latin typeface="Times New Roman" panose="02020603050405020304" pitchFamily="18" charset="0"/>
                <a:cs typeface="Times New Roman" panose="02020603050405020304" pitchFamily="18" charset="0"/>
              </a:rPr>
              <a:t>Overview of Affective Computing</a:t>
            </a:r>
          </a:p>
          <a:p>
            <a:endParaRPr lang="en-US" sz="3200" b="1" dirty="0">
              <a:solidFill>
                <a:schemeClr val="bg1"/>
              </a:solidFill>
              <a:latin typeface="Times New Roman" panose="02020603050405020304" pitchFamily="18" charset="0"/>
              <a:cs typeface="Times New Roman" panose="02020603050405020304" pitchFamily="18" charset="0"/>
            </a:endParaRPr>
          </a:p>
          <a:p>
            <a:pPr algn="just"/>
            <a:r>
              <a:rPr lang="en-US" sz="3200" dirty="0">
                <a:solidFill>
                  <a:schemeClr val="bg1"/>
                </a:solidFill>
                <a:latin typeface="Times New Roman" panose="02020603050405020304" pitchFamily="18" charset="0"/>
                <a:cs typeface="Times New Roman" panose="02020603050405020304" pitchFamily="18" charset="0"/>
              </a:rPr>
              <a:t>Affective calculation is an interdisciplinary field that merges insights from psychology, computer science, and artificial intelligence to develop systems that can recognize and respond to human emotions. The idea developed in the late 20th century, driven by the recognition that emotional intelligence is essential for creating more in-built and attractive technology. By preparing machines with the ability to interpret emotional signs, affective computing seeks to enhance user experiences across various applications, from virtual assistants and customer service bots to mental health monitoring tools.</a:t>
            </a:r>
          </a:p>
          <a:p>
            <a:pPr algn="just"/>
            <a:endParaRPr lang="en-US" sz="3200" dirty="0">
              <a:solidFill>
                <a:schemeClr val="bg1"/>
              </a:solidFill>
              <a:latin typeface="Times New Roman" panose="02020603050405020304" pitchFamily="18" charset="0"/>
              <a:cs typeface="Times New Roman" panose="02020603050405020304" pitchFamily="18" charset="0"/>
            </a:endParaRPr>
          </a:p>
          <a:p>
            <a:pPr algn="just"/>
            <a:r>
              <a:rPr lang="en-US" sz="3200" dirty="0">
                <a:solidFill>
                  <a:schemeClr val="bg1"/>
                </a:solidFill>
                <a:latin typeface="Times New Roman" panose="02020603050405020304" pitchFamily="18" charset="0"/>
                <a:cs typeface="Times New Roman" panose="02020603050405020304" pitchFamily="18" charset="0"/>
              </a:rPr>
              <a:t>The evolution of affective computer science has been pushed by advancements in machine learning, computer vision, and data analytics. These technologies enable the analysis of complex emotional expressions and interactions, concrete the way for smarter systems capable of empathetic responses. As the digital scenery continues to progress, the importance of integrating emotional understanding into technology has grown, highlighting the need for innovative solutions that can accurately interpret human emotions.</a:t>
            </a:r>
          </a:p>
          <a:p>
            <a:r>
              <a:rPr lang="en-US" sz="3200" dirty="0">
                <a:latin typeface="Times New Roman" panose="02020603050405020304" pitchFamily="18" charset="0"/>
                <a:cs typeface="Times New Roman" panose="02020603050405020304" pitchFamily="18" charset="0"/>
              </a:rPr>
              <a:t> </a:t>
            </a:r>
          </a:p>
        </p:txBody>
      </p:sp>
      <p:sp>
        <p:nvSpPr>
          <p:cNvPr id="20" name="TextBox 19">
            <a:extLst>
              <a:ext uri="{FF2B5EF4-FFF2-40B4-BE49-F238E27FC236}">
                <a16:creationId xmlns:a16="http://schemas.microsoft.com/office/drawing/2014/main" id="{67CDCEB2-3C2F-3E48-B064-B44547AA20E2}"/>
              </a:ext>
            </a:extLst>
          </p:cNvPr>
          <p:cNvSpPr txBox="1"/>
          <p:nvPr/>
        </p:nvSpPr>
        <p:spPr>
          <a:xfrm>
            <a:off x="15163800" y="9721869"/>
            <a:ext cx="2324100"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Page No  : 04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16" name="TextBox 16"/>
          <p:cNvSpPr txBox="1"/>
          <p:nvPr/>
        </p:nvSpPr>
        <p:spPr>
          <a:xfrm>
            <a:off x="6825226" y="3765672"/>
            <a:ext cx="4625119" cy="4782603"/>
          </a:xfrm>
          <a:prstGeom prst="rect">
            <a:avLst/>
          </a:prstGeom>
        </p:spPr>
        <p:txBody>
          <a:bodyPr lIns="50800" tIns="50800" rIns="50800" bIns="50800" rtlCol="0" anchor="ctr"/>
          <a:lstStyle/>
          <a:p>
            <a:pPr algn="ctr">
              <a:lnSpc>
                <a:spcPts val="2660"/>
              </a:lnSpc>
            </a:pPr>
            <a:r>
              <a:rPr lang="en-US" sz="1900">
                <a:solidFill>
                  <a:srgbClr val="000000"/>
                </a:solidFill>
                <a:latin typeface="Open Sans" panose="020B0606030504020204"/>
                <a:ea typeface="Open Sans" panose="020B0606030504020204"/>
                <a:cs typeface="Open Sans" panose="020B0606030504020204"/>
                <a:sym typeface="Open Sans" panose="020B0606030504020204"/>
              </a:rPr>
              <a:t>À</a:t>
            </a:r>
          </a:p>
        </p:txBody>
      </p:sp>
      <p:sp>
        <p:nvSpPr>
          <p:cNvPr id="19" name="TextBox 19"/>
          <p:cNvSpPr txBox="1"/>
          <p:nvPr/>
        </p:nvSpPr>
        <p:spPr>
          <a:xfrm>
            <a:off x="11720428" y="3765672"/>
            <a:ext cx="4625119" cy="4782603"/>
          </a:xfrm>
          <a:prstGeom prst="rect">
            <a:avLst/>
          </a:prstGeom>
        </p:spPr>
        <p:txBody>
          <a:bodyPr lIns="50800" tIns="50800" rIns="50800" bIns="50800" rtlCol="0" anchor="ctr"/>
          <a:lstStyle/>
          <a:p>
            <a:pPr algn="ctr">
              <a:lnSpc>
                <a:spcPts val="2660"/>
              </a:lnSpc>
            </a:pPr>
            <a:r>
              <a:rPr lang="en-US" sz="1900">
                <a:solidFill>
                  <a:srgbClr val="000000"/>
                </a:solidFill>
                <a:latin typeface="Open Sans" panose="020B0606030504020204"/>
                <a:ea typeface="Open Sans" panose="020B0606030504020204"/>
                <a:cs typeface="Open Sans" panose="020B0606030504020204"/>
                <a:sym typeface="Open Sans" panose="020B0606030504020204"/>
              </a:rPr>
              <a:t>À</a:t>
            </a:r>
          </a:p>
        </p:txBody>
      </p:sp>
      <p:pic>
        <p:nvPicPr>
          <p:cNvPr id="23" name="Image 9">
            <a:extLst>
              <a:ext uri="{FF2B5EF4-FFF2-40B4-BE49-F238E27FC236}">
                <a16:creationId xmlns:a16="http://schemas.microsoft.com/office/drawing/2014/main" id="{D2B1F298-624D-094D-AEC9-731C8C4C8DFE}"/>
              </a:ext>
            </a:extLst>
          </p:cNvPr>
          <p:cNvPicPr/>
          <p:nvPr/>
        </p:nvPicPr>
        <p:blipFill>
          <a:blip r:embed="rId2" cstate="print"/>
          <a:stretch>
            <a:fillRect/>
          </a:stretch>
        </p:blipFill>
        <p:spPr>
          <a:xfrm>
            <a:off x="838201" y="1738725"/>
            <a:ext cx="16535400" cy="6376575"/>
          </a:xfrm>
          <a:prstGeom prst="rect">
            <a:avLst/>
          </a:prstGeom>
        </p:spPr>
      </p:pic>
      <p:sp>
        <p:nvSpPr>
          <p:cNvPr id="6" name="TextBox 5">
            <a:extLst>
              <a:ext uri="{FF2B5EF4-FFF2-40B4-BE49-F238E27FC236}">
                <a16:creationId xmlns:a16="http://schemas.microsoft.com/office/drawing/2014/main" id="{B99127C9-9B8D-6745-B12F-E4FC39A5ECF2}"/>
              </a:ext>
            </a:extLst>
          </p:cNvPr>
          <p:cNvSpPr txBox="1"/>
          <p:nvPr/>
        </p:nvSpPr>
        <p:spPr>
          <a:xfrm>
            <a:off x="717685" y="8548275"/>
            <a:ext cx="16840199" cy="1200329"/>
          </a:xfrm>
          <a:prstGeom prst="rect">
            <a:avLst/>
          </a:prstGeom>
          <a:noFill/>
        </p:spPr>
        <p:txBody>
          <a:bodyPr wrap="square" rtlCol="0">
            <a:spAutoFit/>
          </a:bodyPr>
          <a:lstStyle/>
          <a:p>
            <a:pPr algn="just"/>
            <a:r>
              <a:rPr lang="en-US" sz="2400" b="1" i="1" dirty="0">
                <a:solidFill>
                  <a:schemeClr val="bg1"/>
                </a:solidFill>
                <a:latin typeface="Times New Roman" panose="02020603050405020304" pitchFamily="18" charset="0"/>
                <a:cs typeface="Times New Roman" panose="02020603050405020304" pitchFamily="18" charset="0"/>
              </a:rPr>
              <a:t>Figure 1: Stages of Facial Expression Recognition. Adapted from Hussein et al. (2022), Person- independent facial expression recognition based on the fusion of HOG descriptor and cuttlefish algorithm, Multimedia Tools and Applications, 81(2), 1-24. DOI: 10.1007/s11042-022-12438-6.</a:t>
            </a:r>
            <a:endParaRPr lang="en-US" sz="2400" i="1"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853D0BA-5EEC-C94D-8A16-74DD73638A0F}"/>
              </a:ext>
            </a:extLst>
          </p:cNvPr>
          <p:cNvSpPr txBox="1"/>
          <p:nvPr/>
        </p:nvSpPr>
        <p:spPr>
          <a:xfrm>
            <a:off x="15849600" y="9750360"/>
            <a:ext cx="2286000"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Page No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4" name="Freeform 4"/>
          <p:cNvSpPr/>
          <p:nvPr/>
        </p:nvSpPr>
        <p:spPr>
          <a:xfrm>
            <a:off x="1000967" y="1028700"/>
            <a:ext cx="16286065" cy="8229600"/>
          </a:xfrm>
          <a:custGeom>
            <a:avLst/>
            <a:gdLst/>
            <a:ahLst/>
            <a:cxnLst/>
            <a:rect l="l" t="t" r="r" b="b"/>
            <a:pathLst>
              <a:path w="4289334" h="2167467">
                <a:moveTo>
                  <a:pt x="24244" y="0"/>
                </a:moveTo>
                <a:lnTo>
                  <a:pt x="4265090" y="0"/>
                </a:lnTo>
                <a:cubicBezTo>
                  <a:pt x="4271520" y="0"/>
                  <a:pt x="4277687" y="2554"/>
                  <a:pt x="4282233" y="7101"/>
                </a:cubicBezTo>
                <a:cubicBezTo>
                  <a:pt x="4286780" y="11647"/>
                  <a:pt x="4289334" y="17814"/>
                  <a:pt x="4289334" y="24244"/>
                </a:cubicBezTo>
                <a:lnTo>
                  <a:pt x="4289334" y="2143223"/>
                </a:lnTo>
                <a:cubicBezTo>
                  <a:pt x="4289334" y="2156612"/>
                  <a:pt x="4278480" y="2167467"/>
                  <a:pt x="4265090" y="2167467"/>
                </a:cubicBezTo>
                <a:lnTo>
                  <a:pt x="24244" y="2167467"/>
                </a:lnTo>
                <a:cubicBezTo>
                  <a:pt x="17814" y="2167467"/>
                  <a:pt x="11647" y="2164912"/>
                  <a:pt x="7101" y="2160366"/>
                </a:cubicBezTo>
                <a:cubicBezTo>
                  <a:pt x="2554" y="2155819"/>
                  <a:pt x="0" y="2149653"/>
                  <a:pt x="0" y="2143223"/>
                </a:cubicBezTo>
                <a:lnTo>
                  <a:pt x="0" y="24244"/>
                </a:lnTo>
                <a:cubicBezTo>
                  <a:pt x="0" y="17814"/>
                  <a:pt x="2554" y="11647"/>
                  <a:pt x="7101" y="7101"/>
                </a:cubicBezTo>
                <a:cubicBezTo>
                  <a:pt x="11647" y="2554"/>
                  <a:pt x="17814" y="0"/>
                  <a:pt x="24244" y="0"/>
                </a:cubicBezTo>
                <a:close/>
              </a:path>
            </a:pathLst>
          </a:custGeom>
          <a:solidFill>
            <a:srgbClr val="414567"/>
          </a:solidFill>
        </p:spPr>
      </p:sp>
      <p:sp>
        <p:nvSpPr>
          <p:cNvPr id="12" name="TextBox 12"/>
          <p:cNvSpPr txBox="1"/>
          <p:nvPr/>
        </p:nvSpPr>
        <p:spPr>
          <a:xfrm>
            <a:off x="2451922" y="3707249"/>
            <a:ext cx="240834" cy="254728"/>
          </a:xfrm>
          <a:prstGeom prst="rect">
            <a:avLst/>
          </a:prstGeom>
        </p:spPr>
        <p:txBody>
          <a:bodyPr lIns="50800" tIns="50800" rIns="50800" bIns="50800" rtlCol="0" anchor="ctr"/>
          <a:lstStyle/>
          <a:p>
            <a:pPr algn="ctr">
              <a:lnSpc>
                <a:spcPts val="2660"/>
              </a:lnSpc>
            </a:pPr>
            <a:endParaRPr/>
          </a:p>
        </p:txBody>
      </p:sp>
      <p:sp>
        <p:nvSpPr>
          <p:cNvPr id="18" name="TextBox 18"/>
          <p:cNvSpPr txBox="1"/>
          <p:nvPr/>
        </p:nvSpPr>
        <p:spPr>
          <a:xfrm>
            <a:off x="2451922" y="6034524"/>
            <a:ext cx="240834" cy="254728"/>
          </a:xfrm>
          <a:prstGeom prst="rect">
            <a:avLst/>
          </a:prstGeom>
        </p:spPr>
        <p:txBody>
          <a:bodyPr lIns="50800" tIns="50800" rIns="50800" bIns="50800" rtlCol="0" anchor="ctr"/>
          <a:lstStyle/>
          <a:p>
            <a:pPr algn="ctr">
              <a:lnSpc>
                <a:spcPts val="2660"/>
              </a:lnSpc>
            </a:pPr>
            <a:endParaRPr/>
          </a:p>
        </p:txBody>
      </p:sp>
      <p:sp>
        <p:nvSpPr>
          <p:cNvPr id="7" name="TextBox 6">
            <a:extLst>
              <a:ext uri="{FF2B5EF4-FFF2-40B4-BE49-F238E27FC236}">
                <a16:creationId xmlns:a16="http://schemas.microsoft.com/office/drawing/2014/main" id="{F87D5A43-017A-4C45-BDCD-8E0F0EA41E90}"/>
              </a:ext>
            </a:extLst>
          </p:cNvPr>
          <p:cNvSpPr txBox="1"/>
          <p:nvPr/>
        </p:nvSpPr>
        <p:spPr>
          <a:xfrm>
            <a:off x="647699" y="593260"/>
            <a:ext cx="16992600" cy="9264075"/>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Importance of Facial Expression Analysis in Human-Computer Interaction</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Facial expressions are one of the most immediate and powerful indicators of human emotion. In human-computer interaction (HCI), the ability to analyze these expressions is crucial for creating responsive and adaptive systems. Accurately analyzing facial expressions makes communication between users and machines more effective, enabling meaningful and spontaneous interactions similar to human-human interactions.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The significance of facial expression analysis extends to multiple domains, including healthcare, education, marketing, and entertainment. For example, in telemedicine, systems that can recognize patient emotions can provide valuable insights into their mental health status, facilitating better care. In educational platforms, recognizing when students exhibit confusion can trigger timely interventions, improving learning outcomes. The entertainment industry also benefits, with applications that adapt narratives based on viewer emotions, enriching the user experience.</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However, the challenges inherent in accurately interpreting facial expressions are substantial. Expressions can vary widely due to cultural differences, individual idiosyncrasies, and contextual factors, making standardized analysis difficult. Existing methods often rely on static feature extraction techniques, which may overlook the dynamic nature of human facial movements. This necessitates the development of more advanced approaches that can effectively capture the subtleties of expressions in real-time.</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This thesis presents a novel framework for facial expression analysis using cosine-based local transitional patterns combined with dynamic radius adjustment. This innovative approach aims to enhance the accuracy and reliability of emotion recognition by adapting to the fluidity of facial expressions. Through rigorous evaluation of various machine learning algorithms—including K- Nearest Neighbors (KNN), Support Vector Machines (SVM), Decision Trees, Random Forests, Logistic Regression, and Gradient Boosting—the research identifies Logistic Regression as the most effective model, achieving an accuracy of 85.87% and demonstrating a superior balance of precision and recall.</a:t>
            </a:r>
          </a:p>
          <a:p>
            <a:pPr algn="just"/>
            <a:endParaRPr lang="en-US" sz="2000" dirty="0"/>
          </a:p>
        </p:txBody>
      </p:sp>
      <p:sp>
        <p:nvSpPr>
          <p:cNvPr id="8" name="TextBox 7">
            <a:extLst>
              <a:ext uri="{FF2B5EF4-FFF2-40B4-BE49-F238E27FC236}">
                <a16:creationId xmlns:a16="http://schemas.microsoft.com/office/drawing/2014/main" id="{8A495AF7-E58E-C242-B9AD-30F7C86F69A4}"/>
              </a:ext>
            </a:extLst>
          </p:cNvPr>
          <p:cNvSpPr txBox="1"/>
          <p:nvPr/>
        </p:nvSpPr>
        <p:spPr>
          <a:xfrm>
            <a:off x="15923406" y="9693740"/>
            <a:ext cx="2727251"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Page No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DDA0970-2CA5-D648-A4E3-1A6D2C430025}"/>
              </a:ext>
            </a:extLst>
          </p:cNvPr>
          <p:cNvSpPr txBox="1"/>
          <p:nvPr/>
        </p:nvSpPr>
        <p:spPr>
          <a:xfrm>
            <a:off x="609600" y="723900"/>
            <a:ext cx="16611600" cy="3416320"/>
          </a:xfrm>
          <a:prstGeom prst="rect">
            <a:avLst/>
          </a:prstGeom>
          <a:noFill/>
        </p:spPr>
        <p:txBody>
          <a:bodyPr wrap="square" rtlCol="0">
            <a:spAutoFit/>
          </a:bodyPr>
          <a:lstStyle/>
          <a:p>
            <a:pPr algn="just"/>
            <a:r>
              <a:rPr lang="en-US" sz="3200" dirty="0">
                <a:solidFill>
                  <a:schemeClr val="bg1"/>
                </a:solidFill>
                <a:latin typeface="Times New Roman" panose="02020603050405020304" pitchFamily="18" charset="0"/>
                <a:cs typeface="Times New Roman" panose="02020603050405020304" pitchFamily="18" charset="0"/>
              </a:rPr>
              <a:t>By comparing the proposed method against contemporary literature, this research highlights its advantages over traditional techniques, particularly in contexts where accurate emotion detection is critical. The findings underscore the importance of selecting appropriate models tailored to the complexities of facial expression data, contributing to the ongoing advancement of emotion detection technologies. Ultimately, this work sets the foundation for future innovations that deepen emotional understanding and enhance human-computer interactions in diverse applications.</a:t>
            </a:r>
          </a:p>
          <a:p>
            <a:pPr algn="just"/>
            <a:r>
              <a:rPr lang="en-US" sz="2400" dirty="0">
                <a:solidFill>
                  <a:schemeClr val="bg1"/>
                </a:solidFill>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id="{126D63D9-6567-064D-90FB-64F6DDCC8C46}"/>
              </a:ext>
            </a:extLst>
          </p:cNvPr>
          <p:cNvSpPr txBox="1"/>
          <p:nvPr/>
        </p:nvSpPr>
        <p:spPr>
          <a:xfrm>
            <a:off x="646814" y="4197538"/>
            <a:ext cx="16383000" cy="4031873"/>
          </a:xfrm>
          <a:prstGeom prst="rect">
            <a:avLst/>
          </a:prstGeom>
          <a:noFill/>
        </p:spPr>
        <p:txBody>
          <a:bodyPr wrap="square" rtlCol="0">
            <a:spAutoFit/>
          </a:bodyPr>
          <a:lstStyle/>
          <a:p>
            <a:pPr algn="just"/>
            <a:r>
              <a:rPr lang="en-US" sz="3200" dirty="0">
                <a:solidFill>
                  <a:schemeClr val="bg1"/>
                </a:solidFill>
                <a:latin typeface="Times New Roman" panose="02020603050405020304" pitchFamily="18" charset="0"/>
                <a:cs typeface="Times New Roman" panose="02020603050405020304" pitchFamily="18" charset="0"/>
              </a:rPr>
              <a:t>Research Problem Statement</a:t>
            </a:r>
          </a:p>
          <a:p>
            <a:pPr algn="just"/>
            <a:endParaRPr lang="en-US" sz="3200" dirty="0">
              <a:solidFill>
                <a:schemeClr val="bg1"/>
              </a:solidFill>
              <a:latin typeface="Times New Roman" panose="02020603050405020304" pitchFamily="18" charset="0"/>
              <a:cs typeface="Times New Roman" panose="02020603050405020304" pitchFamily="18" charset="0"/>
            </a:endParaRPr>
          </a:p>
          <a:p>
            <a:pPr algn="just"/>
            <a:r>
              <a:rPr lang="en-US" sz="3200" dirty="0">
                <a:solidFill>
                  <a:schemeClr val="bg1"/>
                </a:solidFill>
                <a:latin typeface="Times New Roman" panose="02020603050405020304" pitchFamily="18" charset="0"/>
                <a:cs typeface="Times New Roman" panose="02020603050405020304" pitchFamily="18" charset="0"/>
              </a:rPr>
              <a:t>Although emotional computing, especially facial expression analysis, has made significant progress, several limitations and gaps still remain in existing methods. Current techniques typically rely on static feature extraction, which fails to capture the dynamic and subtle nature of facial expressions. Such methods typically focus on limited facial landmarks or predefined emotional categories, which increases the risk of misidentification in real-life situations, where expressions can be context-dependent and subtle </a:t>
            </a:r>
          </a:p>
        </p:txBody>
      </p:sp>
      <p:sp>
        <p:nvSpPr>
          <p:cNvPr id="16" name="TextBox 15">
            <a:extLst>
              <a:ext uri="{FF2B5EF4-FFF2-40B4-BE49-F238E27FC236}">
                <a16:creationId xmlns:a16="http://schemas.microsoft.com/office/drawing/2014/main" id="{A39FA824-96A3-294B-BFD6-9AC17CAF6A39}"/>
              </a:ext>
            </a:extLst>
          </p:cNvPr>
          <p:cNvSpPr txBox="1"/>
          <p:nvPr/>
        </p:nvSpPr>
        <p:spPr>
          <a:xfrm>
            <a:off x="15316200" y="9101435"/>
            <a:ext cx="217081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Page No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8FCBBAB-657C-254E-AA37-9441CA8BA6C5}"/>
              </a:ext>
            </a:extLst>
          </p:cNvPr>
          <p:cNvSpPr txBox="1"/>
          <p:nvPr/>
        </p:nvSpPr>
        <p:spPr>
          <a:xfrm>
            <a:off x="1028700" y="800100"/>
            <a:ext cx="16230600" cy="8125301"/>
          </a:xfrm>
          <a:prstGeom prst="rect">
            <a:avLst/>
          </a:prstGeom>
          <a:noFill/>
        </p:spPr>
        <p:txBody>
          <a:bodyPr wrap="square" rtlCol="0">
            <a:spAutoFit/>
          </a:bodyPr>
          <a:lstStyle/>
          <a:p>
            <a:pPr algn="just"/>
            <a:r>
              <a:rPr lang="en-US" sz="2800" dirty="0">
                <a:solidFill>
                  <a:schemeClr val="bg1">
                    <a:lumMod val="95000"/>
                  </a:schemeClr>
                </a:solidFill>
                <a:latin typeface="Times New Roman" panose="02020603050405020304" pitchFamily="18" charset="0"/>
                <a:cs typeface="Times New Roman" panose="02020603050405020304" pitchFamily="18" charset="0"/>
              </a:rPr>
              <a:t>A major limitation is the lack of ability to handle the variability that exists between different individuals. Cultural differences, personal expression styles, and environmental context significantly influence the expression of emotions in the face. Many methods fail to account for these variations, which makes models either overgeneralized or prone to misclassification. The impact is particularly severe in applications, such as mental health assessment or customer service, where accurate emotion detection is crucial.</a:t>
            </a:r>
          </a:p>
          <a:p>
            <a:pPr algn="just"/>
            <a:endParaRPr lang="en-US" sz="2800" dirty="0">
              <a:solidFill>
                <a:schemeClr val="bg1">
                  <a:lumMod val="95000"/>
                </a:schemeClr>
              </a:solidFill>
              <a:latin typeface="Times New Roman" panose="02020603050405020304" pitchFamily="18" charset="0"/>
              <a:cs typeface="Times New Roman" panose="02020603050405020304" pitchFamily="18" charset="0"/>
            </a:endParaRPr>
          </a:p>
          <a:p>
            <a:pPr algn="just"/>
            <a:r>
              <a:rPr lang="en-US" sz="2800" dirty="0">
                <a:solidFill>
                  <a:schemeClr val="bg1">
                    <a:lumMod val="95000"/>
                  </a:schemeClr>
                </a:solidFill>
                <a:latin typeface="Times New Roman" panose="02020603050405020304" pitchFamily="18" charset="0"/>
                <a:cs typeface="Times New Roman" panose="02020603050405020304" pitchFamily="18" charset="0"/>
              </a:rPr>
              <a:t>In addition, conventional algorithms often suffer from a trade-off between precision and recall, leading to increased rates of false positives and negatives. For example, a system that incorrectly classifies sadness as happiness can lead to inappropriate responses and negatively impact the user experience.</a:t>
            </a:r>
          </a:p>
          <a:p>
            <a:pPr algn="just"/>
            <a:r>
              <a:rPr lang="en-US" sz="2800" dirty="0">
                <a:solidFill>
                  <a:schemeClr val="bg1">
                    <a:lumMod val="95000"/>
                  </a:schemeClr>
                </a:solidFill>
                <a:latin typeface="Times New Roman" panose="02020603050405020304" pitchFamily="18" charset="0"/>
                <a:cs typeface="Times New Roman" panose="02020603050405020304" pitchFamily="18" charset="0"/>
              </a:rPr>
              <a:t>Computational efficiency is also a major challenge. Techniques that require extensive processing power or time are not suitable for real-time applications, thereby limiting their practical applicability. With today's rapid response requirements, there is a growing demand for efficient methods capable of operating effectively in real-time situations.</a:t>
            </a:r>
          </a:p>
          <a:p>
            <a:pPr algn="just"/>
            <a:endParaRPr lang="en-US" sz="2800" dirty="0">
              <a:solidFill>
                <a:schemeClr val="bg1">
                  <a:lumMod val="95000"/>
                </a:schemeClr>
              </a:solidFill>
              <a:latin typeface="Times New Roman" panose="02020603050405020304" pitchFamily="18" charset="0"/>
              <a:cs typeface="Times New Roman" panose="02020603050405020304" pitchFamily="18" charset="0"/>
            </a:endParaRPr>
          </a:p>
          <a:p>
            <a:pPr algn="just"/>
            <a:r>
              <a:rPr lang="en-US" sz="2800" dirty="0">
                <a:solidFill>
                  <a:schemeClr val="bg1">
                    <a:lumMod val="95000"/>
                  </a:schemeClr>
                </a:solidFill>
                <a:latin typeface="Times New Roman" panose="02020603050405020304" pitchFamily="18" charset="0"/>
                <a:cs typeface="Times New Roman" panose="02020603050405020304" pitchFamily="18" charset="0"/>
              </a:rPr>
              <a:t>To address these challenges, the study proposes an innovative approach using cosine-based local transitional patterns with dynamic radius adjustment. This approach aims to significantly improve the accuracy, robustness, and efficiency of facial expression analysis. This will increase the overall reliability of the emotion recognition system and make it more useful in various real-life applications.</a:t>
            </a:r>
          </a:p>
          <a:p>
            <a:r>
              <a:rPr lang="en-US" dirty="0">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B639924C-5115-F24D-A0C2-4AD065C159F0}"/>
              </a:ext>
            </a:extLst>
          </p:cNvPr>
          <p:cNvSpPr txBox="1"/>
          <p:nvPr/>
        </p:nvSpPr>
        <p:spPr>
          <a:xfrm>
            <a:off x="15544800" y="9256067"/>
            <a:ext cx="2209800"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Page No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F9165FEA-F294-3143-93EB-315480E7F39E}"/>
              </a:ext>
            </a:extLst>
          </p:cNvPr>
          <p:cNvSpPr txBox="1"/>
          <p:nvPr/>
        </p:nvSpPr>
        <p:spPr>
          <a:xfrm>
            <a:off x="1295400" y="634573"/>
            <a:ext cx="16002000" cy="9448740"/>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800" dirty="0">
              <a:solidFill>
                <a:schemeClr val="bg1"/>
              </a:solidFill>
              <a:latin typeface="Times New Roman" panose="02020603050405020304" pitchFamily="18" charset="0"/>
              <a:cs typeface="Times New Roman" panose="02020603050405020304" pitchFamily="18" charset="0"/>
            </a:endParaRPr>
          </a:p>
          <a:p>
            <a:pPr lvl="2" algn="just"/>
            <a:r>
              <a:rPr lang="en-US" sz="2800" b="1" dirty="0">
                <a:solidFill>
                  <a:schemeClr val="bg1"/>
                </a:solidFill>
                <a:latin typeface="Times New Roman" panose="02020603050405020304" pitchFamily="18" charset="0"/>
                <a:cs typeface="Times New Roman" panose="02020603050405020304" pitchFamily="18" charset="0"/>
              </a:rPr>
              <a:t>Objectives of the Research</a:t>
            </a:r>
          </a:p>
          <a:p>
            <a:pPr lvl="2" algn="just"/>
            <a:endParaRPr lang="en-US" sz="2800" b="1" dirty="0">
              <a:solidFill>
                <a:schemeClr val="bg1"/>
              </a:solidFill>
              <a:latin typeface="Times New Roman" panose="02020603050405020304" pitchFamily="18" charset="0"/>
              <a:cs typeface="Times New Roman" panose="02020603050405020304" pitchFamily="18" charset="0"/>
            </a:endParaRPr>
          </a:p>
          <a:p>
            <a:pPr lvl="2" algn="just"/>
            <a:r>
              <a:rPr lang="en-US" sz="2800" b="1" dirty="0">
                <a:solidFill>
                  <a:schemeClr val="bg1"/>
                </a:solidFill>
                <a:latin typeface="Times New Roman" panose="02020603050405020304" pitchFamily="18" charset="0"/>
                <a:cs typeface="Times New Roman" panose="02020603050405020304" pitchFamily="18" charset="0"/>
              </a:rPr>
              <a:t>Specific Aims of the Study</a:t>
            </a:r>
          </a:p>
          <a:p>
            <a:pPr lvl="2" algn="just"/>
            <a:endParaRPr lang="en-US" sz="2800" b="1" dirty="0">
              <a:solidFill>
                <a:schemeClr val="bg1"/>
              </a:solidFill>
              <a:latin typeface="Times New Roman" panose="02020603050405020304" pitchFamily="18" charset="0"/>
              <a:cs typeface="Times New Roman" panose="02020603050405020304" pitchFamily="18" charset="0"/>
            </a:endParaRPr>
          </a:p>
          <a:p>
            <a:pPr lvl="2" algn="just"/>
            <a:r>
              <a:rPr lang="en-US" sz="2800" b="1" dirty="0">
                <a:solidFill>
                  <a:schemeClr val="bg1"/>
                </a:solidFill>
                <a:latin typeface="Times New Roman" panose="02020603050405020304" pitchFamily="18" charset="0"/>
                <a:cs typeface="Times New Roman" panose="02020603050405020304" pitchFamily="18" charset="0"/>
              </a:rPr>
              <a:t>1.Enhance Facial Expression Recognition</a:t>
            </a:r>
            <a:r>
              <a:rPr lang="en-US" sz="2800" dirty="0">
                <a:solidFill>
                  <a:schemeClr val="bg1"/>
                </a:solidFill>
                <a:latin typeface="Times New Roman" panose="02020603050405020304" pitchFamily="18" charset="0"/>
                <a:cs typeface="Times New Roman" panose="02020603050405020304" pitchFamily="18" charset="0"/>
              </a:rPr>
              <a:t>: To develop and validate a novel method using cosine-based local transitional patterns with dynamic radius adjustment, aimed at improving the accuracy and reliability of facial expression recognition systems.</a:t>
            </a:r>
          </a:p>
          <a:p>
            <a:pPr lvl="2" algn="just"/>
            <a:endParaRPr lang="en-US" sz="2800" dirty="0">
              <a:solidFill>
                <a:schemeClr val="bg1"/>
              </a:solidFill>
              <a:latin typeface="Times New Roman" panose="02020603050405020304" pitchFamily="18" charset="0"/>
              <a:cs typeface="Times New Roman" panose="02020603050405020304" pitchFamily="18" charset="0"/>
            </a:endParaRPr>
          </a:p>
          <a:p>
            <a:pPr lvl="2" algn="just"/>
            <a:r>
              <a:rPr lang="en-US" sz="2800" b="1" dirty="0">
                <a:solidFill>
                  <a:schemeClr val="bg1"/>
                </a:solidFill>
                <a:latin typeface="Times New Roman" panose="02020603050405020304" pitchFamily="18" charset="0"/>
                <a:cs typeface="Times New Roman" panose="02020603050405020304" pitchFamily="18" charset="0"/>
              </a:rPr>
              <a:t>2.Evaluate Machine Learning Algorithms</a:t>
            </a:r>
            <a:r>
              <a:rPr lang="en-US" sz="2800" dirty="0">
                <a:solidFill>
                  <a:schemeClr val="bg1"/>
                </a:solidFill>
                <a:latin typeface="Times New Roman" panose="02020603050405020304" pitchFamily="18" charset="0"/>
                <a:cs typeface="Times New Roman" panose="02020603050405020304" pitchFamily="18" charset="0"/>
              </a:rPr>
              <a:t>: To systematically assess the performance of various machine learning algorithms, including K-Nearest Neighbors (KNN), Support Vector Machines (SVM), Decision Trees, Random Forests, Logistic Regression, and Gradient Boosting, in recognizing facial expressions.</a:t>
            </a:r>
          </a:p>
          <a:p>
            <a:pPr lvl="2" algn="just"/>
            <a:endParaRPr lang="en-US" sz="2800" dirty="0">
              <a:solidFill>
                <a:schemeClr val="bg1"/>
              </a:solidFill>
              <a:latin typeface="Times New Roman" panose="02020603050405020304" pitchFamily="18" charset="0"/>
              <a:cs typeface="Times New Roman" panose="02020603050405020304" pitchFamily="18" charset="0"/>
            </a:endParaRPr>
          </a:p>
          <a:p>
            <a:pPr lvl="2" algn="just"/>
            <a:r>
              <a:rPr lang="en-US" sz="2800" b="1" dirty="0">
                <a:solidFill>
                  <a:schemeClr val="bg1"/>
                </a:solidFill>
                <a:latin typeface="Times New Roman" panose="02020603050405020304" pitchFamily="18" charset="0"/>
                <a:cs typeface="Times New Roman" panose="02020603050405020304" pitchFamily="18" charset="0"/>
              </a:rPr>
              <a:t>3.Optimize Model Selection</a:t>
            </a:r>
            <a:r>
              <a:rPr lang="en-US" sz="2800" dirty="0">
                <a:solidFill>
                  <a:schemeClr val="bg1"/>
                </a:solidFill>
                <a:latin typeface="Times New Roman" panose="02020603050405020304" pitchFamily="18" charset="0"/>
                <a:cs typeface="Times New Roman" panose="02020603050405020304" pitchFamily="18" charset="0"/>
              </a:rPr>
              <a:t>: To identify the most effective model for facial expression recognition by comparing metrics such as accuracy, precision, recall, and F1 score, thereby establishing best practices for model selection in affective computing.</a:t>
            </a:r>
          </a:p>
          <a:p>
            <a:pPr lvl="2" algn="just"/>
            <a:endParaRPr lang="en-US" sz="2800" dirty="0">
              <a:solidFill>
                <a:schemeClr val="bg1"/>
              </a:solidFill>
              <a:latin typeface="Times New Roman" panose="02020603050405020304" pitchFamily="18" charset="0"/>
              <a:cs typeface="Times New Roman" panose="02020603050405020304" pitchFamily="18" charset="0"/>
            </a:endParaRPr>
          </a:p>
          <a:p>
            <a:pPr lvl="2" algn="just"/>
            <a:r>
              <a:rPr lang="en-US" sz="2800" b="1" dirty="0">
                <a:solidFill>
                  <a:schemeClr val="bg1"/>
                </a:solidFill>
                <a:latin typeface="Times New Roman" panose="02020603050405020304" pitchFamily="18" charset="0"/>
                <a:cs typeface="Times New Roman" panose="02020603050405020304" pitchFamily="18" charset="0"/>
              </a:rPr>
              <a:t>4.Contribute to Affective Computing</a:t>
            </a:r>
            <a:r>
              <a:rPr lang="en-US" sz="2800" dirty="0">
                <a:solidFill>
                  <a:schemeClr val="bg1"/>
                </a:solidFill>
                <a:latin typeface="Times New Roman" panose="02020603050405020304" pitchFamily="18" charset="0"/>
                <a:cs typeface="Times New Roman" panose="02020603050405020304" pitchFamily="18" charset="0"/>
              </a:rPr>
              <a:t>: To provide insights and methodologies that advance the field of affective computing, particularly in the context of human-computer interaction, by emphasizing the significance of accurately detecting and interpreting human emotions.</a:t>
            </a:r>
          </a:p>
          <a:p>
            <a:pPr algn="just"/>
            <a:r>
              <a:rPr lang="en-US" sz="2400" dirty="0">
                <a:solidFill>
                  <a:schemeClr val="bg1"/>
                </a:solidFill>
                <a:latin typeface="Times New Roman" panose="02020603050405020304" pitchFamily="18" charset="0"/>
                <a:cs typeface="Times New Roman" panose="02020603050405020304" pitchFamily="18" charset="0"/>
              </a:rPr>
              <a:t> </a:t>
            </a:r>
          </a:p>
        </p:txBody>
      </p:sp>
      <p:sp>
        <p:nvSpPr>
          <p:cNvPr id="21" name="TextBox 20">
            <a:extLst>
              <a:ext uri="{FF2B5EF4-FFF2-40B4-BE49-F238E27FC236}">
                <a16:creationId xmlns:a16="http://schemas.microsoft.com/office/drawing/2014/main" id="{E8F9B5FC-159A-8B4E-86B1-EF4C62E64D9F}"/>
              </a:ext>
            </a:extLst>
          </p:cNvPr>
          <p:cNvSpPr txBox="1"/>
          <p:nvPr/>
        </p:nvSpPr>
        <p:spPr>
          <a:xfrm>
            <a:off x="15544800" y="9621648"/>
            <a:ext cx="1981200"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Page No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27A23B-D16C-BC4E-A49F-0571964B453C}"/>
              </a:ext>
            </a:extLst>
          </p:cNvPr>
          <p:cNvSpPr txBox="1"/>
          <p:nvPr/>
        </p:nvSpPr>
        <p:spPr>
          <a:xfrm>
            <a:off x="859465" y="536022"/>
            <a:ext cx="16230600" cy="7467600"/>
          </a:xfrm>
          <a:prstGeom prst="rect">
            <a:avLst/>
          </a:prstGeom>
          <a:noFill/>
        </p:spPr>
        <p:txBody>
          <a:bodyPr wrap="square" rtlCol="0">
            <a:spAutoFit/>
          </a:bodyPr>
          <a:lstStyle/>
          <a:p>
            <a:endParaRPr lang="en-US"/>
          </a:p>
        </p:txBody>
      </p:sp>
      <p:sp>
        <p:nvSpPr>
          <p:cNvPr id="3" name="TextBox 2">
            <a:extLst>
              <a:ext uri="{FF2B5EF4-FFF2-40B4-BE49-F238E27FC236}">
                <a16:creationId xmlns:a16="http://schemas.microsoft.com/office/drawing/2014/main" id="{CF05A09F-F1C8-BD43-9A67-5B19C3905464}"/>
              </a:ext>
            </a:extLst>
          </p:cNvPr>
          <p:cNvSpPr txBox="1"/>
          <p:nvPr/>
        </p:nvSpPr>
        <p:spPr>
          <a:xfrm>
            <a:off x="304800" y="29240"/>
            <a:ext cx="16230600" cy="10618291"/>
          </a:xfrm>
          <a:prstGeom prst="rect">
            <a:avLst/>
          </a:prstGeom>
          <a:noFill/>
        </p:spPr>
        <p:txBody>
          <a:bodyPr wrap="square" rtlCol="0">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Research Questions</a:t>
            </a:r>
          </a:p>
          <a:p>
            <a:pPr lvl="3" algn="just"/>
            <a:r>
              <a:rPr lang="en-US" dirty="0">
                <a:solidFill>
                  <a:schemeClr val="bg1"/>
                </a:solidFill>
                <a:latin typeface="Times New Roman" panose="02020603050405020304" pitchFamily="18" charset="0"/>
                <a:cs typeface="Times New Roman" panose="02020603050405020304" pitchFamily="18" charset="0"/>
              </a:rPr>
              <a:t>1.How do cosine-based local transitional patterns with dynamic radius adjustment improve the accuracy of facial expression recognition compared to traditional methods?</a:t>
            </a:r>
          </a:p>
          <a:p>
            <a:pPr lvl="3" algn="just"/>
            <a:r>
              <a:rPr lang="en-US" dirty="0">
                <a:solidFill>
                  <a:schemeClr val="bg1"/>
                </a:solidFill>
                <a:latin typeface="Times New Roman" panose="02020603050405020304" pitchFamily="18" charset="0"/>
                <a:cs typeface="Times New Roman" panose="02020603050405020304" pitchFamily="18" charset="0"/>
              </a:rPr>
              <a:t>2.Which machine learning algorithm demonstrates the highest performance in recognizing facial expressions, and what are the comparative metrics for accuracy, precision, recall, and F1 score among these algorithms?</a:t>
            </a:r>
          </a:p>
          <a:p>
            <a:pPr lvl="3" algn="just"/>
            <a:r>
              <a:rPr lang="en-US" dirty="0">
                <a:solidFill>
                  <a:schemeClr val="bg1"/>
                </a:solidFill>
                <a:latin typeface="Times New Roman" panose="02020603050405020304" pitchFamily="18" charset="0"/>
                <a:cs typeface="Times New Roman" panose="02020603050405020304" pitchFamily="18" charset="0"/>
              </a:rPr>
              <a:t>3.What are the implications of model selection on the effectiveness of emotion recognition systems, and how do advance algorithmic techniques influence the detection of subtle emotional patterns?</a:t>
            </a:r>
          </a:p>
          <a:p>
            <a:pPr lvl="3" algn="just"/>
            <a:r>
              <a:rPr lang="en-US" dirty="0">
                <a:solidFill>
                  <a:schemeClr val="bg1"/>
                </a:solidFill>
                <a:latin typeface="Times New Roman" panose="02020603050405020304" pitchFamily="18" charset="0"/>
                <a:cs typeface="Times New Roman" panose="02020603050405020304" pitchFamily="18" charset="0"/>
              </a:rPr>
              <a:t>4.In what ways can the findings from this study inform future developments in emotion detection technologies and enhance human-computer interactions?</a:t>
            </a:r>
          </a:p>
          <a:p>
            <a:pPr lvl="3"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These objectives and research questions set a clear direction for the study, aiming to make significant contributions to the understanding and application of facial expression recognition in affective computing.</a:t>
            </a:r>
          </a:p>
          <a:p>
            <a:pPr algn="just"/>
            <a:r>
              <a:rPr lang="en-US" sz="2000" dirty="0">
                <a:solidFill>
                  <a:schemeClr val="bg1"/>
                </a:solidFill>
                <a:latin typeface="Times New Roman" panose="02020603050405020304" pitchFamily="18" charset="0"/>
                <a:cs typeface="Times New Roman" panose="02020603050405020304" pitchFamily="18" charset="0"/>
              </a:rPr>
              <a:t> </a:t>
            </a:r>
          </a:p>
          <a:p>
            <a:pPr algn="just"/>
            <a:r>
              <a:rPr lang="en-US" sz="2000" b="1" dirty="0">
                <a:solidFill>
                  <a:schemeClr val="bg1"/>
                </a:solidFill>
                <a:latin typeface="Times New Roman" panose="02020603050405020304" pitchFamily="18" charset="0"/>
                <a:cs typeface="Times New Roman" panose="02020603050405020304" pitchFamily="18" charset="0"/>
              </a:rPr>
              <a:t>Significance of the Study</a:t>
            </a:r>
          </a:p>
          <a:p>
            <a:pPr algn="just"/>
            <a:r>
              <a:rPr lang="en-US" sz="2000" dirty="0">
                <a:solidFill>
                  <a:schemeClr val="bg1"/>
                </a:solidFill>
                <a:latin typeface="Times New Roman" panose="02020603050405020304" pitchFamily="18" charset="0"/>
                <a:cs typeface="Times New Roman" panose="02020603050405020304" pitchFamily="18" charset="0"/>
              </a:rPr>
              <a:t>Implications </a:t>
            </a:r>
            <a:r>
              <a:rPr lang="en-US" sz="2000" b="1" dirty="0">
                <a:solidFill>
                  <a:schemeClr val="bg1"/>
                </a:solidFill>
                <a:latin typeface="Times New Roman" panose="02020603050405020304" pitchFamily="18" charset="0"/>
                <a:cs typeface="Times New Roman" panose="02020603050405020304" pitchFamily="18" charset="0"/>
              </a:rPr>
              <a:t>for Emotion Detection Technologies and Practical Applications</a:t>
            </a:r>
          </a:p>
          <a:p>
            <a:pPr algn="just"/>
            <a:r>
              <a:rPr lang="en-US" b="1" dirty="0">
                <a:solidFill>
                  <a:schemeClr val="bg1"/>
                </a:solidFill>
                <a:latin typeface="Times New Roman" panose="02020603050405020304" pitchFamily="18" charset="0"/>
                <a:cs typeface="Times New Roman" panose="02020603050405020304" pitchFamily="18" charset="0"/>
              </a:rPr>
              <a:t> </a:t>
            </a:r>
            <a:endParaRPr lang="en-US" dirty="0">
              <a:solidFill>
                <a:schemeClr val="bg1"/>
              </a:solidFill>
              <a:latin typeface="Times New Roman" panose="02020603050405020304" pitchFamily="18" charset="0"/>
              <a:cs typeface="Times New Roman" panose="02020603050405020304" pitchFamily="18" charset="0"/>
            </a:endParaRPr>
          </a:p>
          <a:p>
            <a:pPr lvl="2" algn="just"/>
            <a:r>
              <a:rPr lang="en-US" b="1" dirty="0">
                <a:solidFill>
                  <a:schemeClr val="bg1"/>
                </a:solidFill>
                <a:latin typeface="Times New Roman" panose="02020603050405020304" pitchFamily="18" charset="0"/>
                <a:cs typeface="Times New Roman" panose="02020603050405020304" pitchFamily="18" charset="0"/>
              </a:rPr>
              <a:t>1.Advancement in Affective Computing</a:t>
            </a:r>
            <a:r>
              <a:rPr lang="en-US" dirty="0">
                <a:solidFill>
                  <a:schemeClr val="bg1"/>
                </a:solidFill>
                <a:latin typeface="Times New Roman" panose="02020603050405020304" pitchFamily="18" charset="0"/>
                <a:cs typeface="Times New Roman" panose="02020603050405020304" pitchFamily="18" charset="0"/>
              </a:rPr>
              <a:t>: This study provides a novel approach to facial expression recognition, utilizing cosine-based local transitional patterns with dynamic radius adjustment. By enhancing the accuracy of emotion detection, the research contributes to the overall progress in affective computing, fostering more sophisticated human-computer interactions.</a:t>
            </a:r>
          </a:p>
          <a:p>
            <a:pPr lvl="2" algn="just"/>
            <a:endParaRPr lang="en-US" dirty="0">
              <a:solidFill>
                <a:schemeClr val="bg1"/>
              </a:solidFill>
              <a:latin typeface="Times New Roman" panose="02020603050405020304" pitchFamily="18" charset="0"/>
              <a:cs typeface="Times New Roman" panose="02020603050405020304" pitchFamily="18" charset="0"/>
            </a:endParaRPr>
          </a:p>
          <a:p>
            <a:pPr lvl="2" algn="just"/>
            <a:r>
              <a:rPr lang="en-US" b="1" dirty="0">
                <a:solidFill>
                  <a:schemeClr val="bg1"/>
                </a:solidFill>
                <a:latin typeface="Times New Roman" panose="02020603050405020304" pitchFamily="18" charset="0"/>
                <a:cs typeface="Times New Roman" panose="02020603050405020304" pitchFamily="18" charset="0"/>
              </a:rPr>
              <a:t>2.Improved Emotional Understanding</a:t>
            </a:r>
            <a:r>
              <a:rPr lang="en-US" dirty="0">
                <a:solidFill>
                  <a:schemeClr val="bg1"/>
                </a:solidFill>
                <a:latin typeface="Times New Roman" panose="02020603050405020304" pitchFamily="18" charset="0"/>
                <a:cs typeface="Times New Roman" panose="02020603050405020304" pitchFamily="18" charset="0"/>
              </a:rPr>
              <a:t>: The ability to accurately recognize facial expressions allows for deeper emotional understanding in various contexts, such as mental health assessments, customer service interactions, and educational environments. This can lead to more empathetic and responsive systems that cater to user emotions.</a:t>
            </a:r>
          </a:p>
          <a:p>
            <a:pPr lvl="2" algn="just"/>
            <a:endParaRPr lang="en-US" dirty="0">
              <a:solidFill>
                <a:schemeClr val="bg1"/>
              </a:solidFill>
              <a:latin typeface="Times New Roman" panose="02020603050405020304" pitchFamily="18" charset="0"/>
              <a:cs typeface="Times New Roman" panose="02020603050405020304" pitchFamily="18" charset="0"/>
            </a:endParaRPr>
          </a:p>
          <a:p>
            <a:pPr lvl="2" algn="just"/>
            <a:r>
              <a:rPr lang="en-US" b="1" dirty="0">
                <a:solidFill>
                  <a:schemeClr val="bg1"/>
                </a:solidFill>
                <a:latin typeface="Times New Roman" panose="02020603050405020304" pitchFamily="18" charset="0"/>
                <a:cs typeface="Times New Roman" panose="02020603050405020304" pitchFamily="18" charset="0"/>
              </a:rPr>
              <a:t>3.Enhanced User Experience</a:t>
            </a:r>
            <a:r>
              <a:rPr lang="en-US" dirty="0">
                <a:solidFill>
                  <a:schemeClr val="bg1"/>
                </a:solidFill>
                <a:latin typeface="Times New Roman" panose="02020603050405020304" pitchFamily="18" charset="0"/>
                <a:cs typeface="Times New Roman" panose="02020603050405020304" pitchFamily="18" charset="0"/>
              </a:rPr>
              <a:t>: By implementing reliable emotion detection technologies, applications in gaming, virtual reality, and social media can create more immersive and engaging user experiences. Emotion-aware systems can adapt content and responses based on users’ emotional states, leading to more meaningful interactions.</a:t>
            </a:r>
          </a:p>
          <a:p>
            <a:pPr lvl="2" algn="just"/>
            <a:endParaRPr lang="en-US" dirty="0">
              <a:solidFill>
                <a:schemeClr val="bg1"/>
              </a:solidFill>
              <a:latin typeface="Times New Roman" panose="02020603050405020304" pitchFamily="18" charset="0"/>
              <a:cs typeface="Times New Roman" panose="02020603050405020304" pitchFamily="18" charset="0"/>
            </a:endParaRPr>
          </a:p>
          <a:p>
            <a:pPr lvl="2" algn="just"/>
            <a:r>
              <a:rPr lang="en-US" b="1" dirty="0">
                <a:solidFill>
                  <a:schemeClr val="bg1"/>
                </a:solidFill>
                <a:latin typeface="Times New Roman" panose="02020603050405020304" pitchFamily="18" charset="0"/>
                <a:cs typeface="Times New Roman" panose="02020603050405020304" pitchFamily="18" charset="0"/>
              </a:rPr>
              <a:t>4.Integration in Real-World Applications</a:t>
            </a:r>
            <a:r>
              <a:rPr lang="en-US" dirty="0">
                <a:solidFill>
                  <a:schemeClr val="bg1"/>
                </a:solidFill>
                <a:latin typeface="Times New Roman" panose="02020603050405020304" pitchFamily="18" charset="0"/>
                <a:cs typeface="Times New Roman" panose="02020603050405020304" pitchFamily="18" charset="0"/>
              </a:rPr>
              <a:t>: The findings of this study can inform the development of emotion detection tools in sectors such as healthcare, where monitoring patient emotions can improve therapeutic outcomes, and in security, where detecting stress or anxiety can enhance surveillance systems.</a:t>
            </a:r>
          </a:p>
          <a:p>
            <a:pPr lvl="2" algn="just"/>
            <a:r>
              <a:rPr lang="en-US" b="1" dirty="0">
                <a:solidFill>
                  <a:schemeClr val="bg1"/>
                </a:solidFill>
                <a:latin typeface="Times New Roman" panose="02020603050405020304" pitchFamily="18" charset="0"/>
                <a:cs typeface="Times New Roman" panose="02020603050405020304" pitchFamily="18" charset="0"/>
              </a:rPr>
              <a:t>Guidance for Future Research</a:t>
            </a:r>
            <a:r>
              <a:rPr lang="en-US" dirty="0">
                <a:solidFill>
                  <a:schemeClr val="bg1"/>
                </a:solidFill>
                <a:latin typeface="Times New Roman" panose="02020603050405020304" pitchFamily="18" charset="0"/>
                <a:cs typeface="Times New Roman" panose="02020603050405020304" pitchFamily="18" charset="0"/>
              </a:rPr>
              <a:t>: The comparative analysis of various machine learning models provides a framework for future research in emotion detection technologies. Researchers can build upon the insights gained from this study to explore new algorithms, refine existing methods, and tackle challenges related to emotion recognition in diverse populations and environments.</a:t>
            </a:r>
          </a:p>
          <a:p>
            <a:pPr lvl="2" algn="just"/>
            <a:endParaRPr lang="en-US" dirty="0">
              <a:solidFill>
                <a:schemeClr val="bg1"/>
              </a:solidFill>
              <a:latin typeface="Times New Roman" panose="02020603050405020304" pitchFamily="18" charset="0"/>
              <a:cs typeface="Times New Roman" panose="02020603050405020304" pitchFamily="18" charset="0"/>
            </a:endParaRPr>
          </a:p>
          <a:p>
            <a:pPr lvl="2" algn="just"/>
            <a:r>
              <a:rPr lang="en-US" b="1" dirty="0">
                <a:solidFill>
                  <a:schemeClr val="bg1"/>
                </a:solidFill>
                <a:latin typeface="Times New Roman" panose="02020603050405020304" pitchFamily="18" charset="0"/>
                <a:cs typeface="Times New Roman" panose="02020603050405020304" pitchFamily="18" charset="0"/>
              </a:rPr>
              <a:t>5.Contribution to Ethical AI Development</a:t>
            </a:r>
            <a:r>
              <a:rPr lang="en-US" dirty="0">
                <a:solidFill>
                  <a:schemeClr val="bg1"/>
                </a:solidFill>
                <a:latin typeface="Times New Roman" panose="02020603050405020304" pitchFamily="18" charset="0"/>
                <a:cs typeface="Times New Roman" panose="02020603050405020304" pitchFamily="18" charset="0"/>
              </a:rPr>
              <a:t>: As emotion detection technologies become more prevalent, this study emphasizes the importance of accuracy and reliability, which are crucial for ethical AI practices. By focusing on precision and recall, the </a:t>
            </a:r>
            <a:r>
              <a:rPr lang="en-US" dirty="0" err="1">
                <a:solidFill>
                  <a:schemeClr val="bg1"/>
                </a:solidFill>
                <a:latin typeface="Times New Roman" panose="02020603050405020304" pitchFamily="18" charset="0"/>
                <a:cs typeface="Times New Roman" panose="02020603050405020304" pitchFamily="18" charset="0"/>
              </a:rPr>
              <a:t>researchsupports</a:t>
            </a:r>
            <a:r>
              <a:rPr lang="en-US" dirty="0">
                <a:solidFill>
                  <a:schemeClr val="bg1"/>
                </a:solidFill>
                <a:latin typeface="Times New Roman" panose="02020603050405020304" pitchFamily="18" charset="0"/>
                <a:cs typeface="Times New Roman" panose="02020603050405020304" pitchFamily="18" charset="0"/>
              </a:rPr>
              <a:t> the development of systems that respect user privacy and minimize the risks of misinterpretation or misuse of emotional data.</a:t>
            </a:r>
          </a:p>
          <a:p>
            <a:pPr algn="just"/>
            <a:r>
              <a:rPr lang="en-US" dirty="0">
                <a:solidFill>
                  <a:schemeClr val="bg1"/>
                </a:solidFill>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4ED63319-2CE6-5043-9AFD-A72807CB6CE8}"/>
              </a:ext>
            </a:extLst>
          </p:cNvPr>
          <p:cNvSpPr txBox="1"/>
          <p:nvPr/>
        </p:nvSpPr>
        <p:spPr>
          <a:xfrm>
            <a:off x="16764000" y="9865427"/>
            <a:ext cx="1905000" cy="369332"/>
          </a:xfrm>
          <a:prstGeom prst="rect">
            <a:avLst/>
          </a:prstGeom>
          <a:noFill/>
        </p:spPr>
        <p:txBody>
          <a:bodyPr wrap="square" rtlCol="0">
            <a:spAutoFit/>
          </a:bodyPr>
          <a:lstStyle/>
          <a:p>
            <a:r>
              <a:rPr lang="en-US" dirty="0">
                <a:solidFill>
                  <a:schemeClr val="bg1">
                    <a:lumMod val="95000"/>
                  </a:schemeClr>
                </a:solidFill>
                <a:latin typeface="Times New Roman" panose="02020603050405020304" pitchFamily="18" charset="0"/>
                <a:cs typeface="Times New Roman" panose="02020603050405020304" pitchFamily="18" charset="0"/>
              </a:rPr>
              <a:t>Page No : 10</a:t>
            </a:r>
            <a:r>
              <a:rPr lang="en-US"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27A23B-D16C-BC4E-A49F-0571964B453C}"/>
              </a:ext>
            </a:extLst>
          </p:cNvPr>
          <p:cNvSpPr txBox="1"/>
          <p:nvPr/>
        </p:nvSpPr>
        <p:spPr>
          <a:xfrm>
            <a:off x="914400" y="404888"/>
            <a:ext cx="16230600" cy="8586966"/>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Methodological Overview</a:t>
            </a:r>
          </a:p>
          <a:p>
            <a:pPr algn="just"/>
            <a:r>
              <a:rPr lang="en-US" sz="2400" b="1" dirty="0">
                <a:solidFill>
                  <a:schemeClr val="bg1"/>
                </a:solidFill>
                <a:latin typeface="Times New Roman" panose="02020603050405020304" pitchFamily="18" charset="0"/>
                <a:cs typeface="Times New Roman" panose="02020603050405020304" pitchFamily="18" charset="0"/>
              </a:rPr>
              <a:t>Summary of the Proposed Approach and Innovations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This study introduces a novel methodological framework for facial expression recognition that leverages cosine-based local transitional patterns with dynamic radius adjustment. The approach aims to enhance the accuracy and reliability of emotion detection by focusing on the nuanced characteristics of facial expressions.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lvl="2" algn="just"/>
            <a:r>
              <a:rPr lang="en-US" sz="2400" b="1" dirty="0">
                <a:solidFill>
                  <a:schemeClr val="bg1"/>
                </a:solidFill>
                <a:latin typeface="Times New Roman" panose="02020603050405020304" pitchFamily="18" charset="0"/>
                <a:cs typeface="Times New Roman" panose="02020603050405020304" pitchFamily="18" charset="0"/>
              </a:rPr>
              <a:t>1.Cosine-Based Local Transitional Patterns</a:t>
            </a:r>
            <a:r>
              <a:rPr lang="en-US" sz="2400" dirty="0">
                <a:solidFill>
                  <a:schemeClr val="bg1"/>
                </a:solidFill>
                <a:latin typeface="Times New Roman" panose="02020603050405020304" pitchFamily="18" charset="0"/>
                <a:cs typeface="Times New Roman" panose="02020603050405020304" pitchFamily="18" charset="0"/>
              </a:rPr>
              <a:t>: The core innovation lies in the use of cosine- based patterns, which allow for the identification of subtle transitions in facial expressions. This technique captures variations in expression over time, providing a richer representation of emotional states compared to static analyses.</a:t>
            </a:r>
          </a:p>
          <a:p>
            <a:pPr lvl="2" algn="just"/>
            <a:endParaRPr lang="en-US" sz="2400" dirty="0">
              <a:solidFill>
                <a:schemeClr val="bg1"/>
              </a:solidFill>
              <a:latin typeface="Times New Roman" panose="02020603050405020304" pitchFamily="18" charset="0"/>
              <a:cs typeface="Times New Roman" panose="02020603050405020304" pitchFamily="18" charset="0"/>
            </a:endParaRPr>
          </a:p>
          <a:p>
            <a:pPr lvl="2" algn="just"/>
            <a:r>
              <a:rPr lang="en-US" sz="2400" b="1" dirty="0">
                <a:solidFill>
                  <a:schemeClr val="bg1"/>
                </a:solidFill>
                <a:latin typeface="Times New Roman" panose="02020603050405020304" pitchFamily="18" charset="0"/>
                <a:cs typeface="Times New Roman" panose="02020603050405020304" pitchFamily="18" charset="0"/>
              </a:rPr>
              <a:t>2.Dynamic Radius Adjustment</a:t>
            </a:r>
            <a:r>
              <a:rPr lang="en-US" sz="2400" dirty="0">
                <a:solidFill>
                  <a:schemeClr val="bg1"/>
                </a:solidFill>
                <a:latin typeface="Times New Roman" panose="02020603050405020304" pitchFamily="18" charset="0"/>
                <a:cs typeface="Times New Roman" panose="02020603050405020304" pitchFamily="18" charset="0"/>
              </a:rPr>
              <a:t>: To further refine the recognition process, the method incorporates dynamic radius adjustment. This technique enables the model to adapt to different contexts and variations in facial features, ensuring that the detection process remains sensitive to individual differences and environmental factors.</a:t>
            </a:r>
          </a:p>
          <a:p>
            <a:pPr lvl="2" algn="just"/>
            <a:endParaRPr lang="en-US" sz="2400" dirty="0">
              <a:solidFill>
                <a:schemeClr val="bg1"/>
              </a:solidFill>
              <a:latin typeface="Times New Roman" panose="02020603050405020304" pitchFamily="18" charset="0"/>
              <a:cs typeface="Times New Roman" panose="02020603050405020304" pitchFamily="18" charset="0"/>
            </a:endParaRPr>
          </a:p>
          <a:p>
            <a:pPr lvl="2" algn="just"/>
            <a:r>
              <a:rPr lang="en-US" sz="2400" b="1" dirty="0">
                <a:solidFill>
                  <a:schemeClr val="bg1"/>
                </a:solidFill>
                <a:latin typeface="Times New Roman" panose="02020603050405020304" pitchFamily="18" charset="0"/>
                <a:cs typeface="Times New Roman" panose="02020603050405020304" pitchFamily="18" charset="0"/>
              </a:rPr>
              <a:t>3.Comprehensive Evaluation of Algorithms</a:t>
            </a:r>
            <a:r>
              <a:rPr lang="en-US" sz="2400" dirty="0">
                <a:solidFill>
                  <a:schemeClr val="bg1"/>
                </a:solidFill>
                <a:latin typeface="Times New Roman" panose="02020603050405020304" pitchFamily="18" charset="0"/>
                <a:cs typeface="Times New Roman" panose="02020603050405020304" pitchFamily="18" charset="0"/>
              </a:rPr>
              <a:t>: The methodology includes a rigorous evaluation of multiple machine learning algorithms—K-Nearest Neighbors (KNN), Support Vector Machines (SVM), Decision Trees, Random Forests, Logistic Regression, and Gradient Boosting. This comparative analysis not only identifies the most effective model but also highlights the strengths and weaknesses of each approach in recognizing facial expressions.</a:t>
            </a:r>
          </a:p>
          <a:p>
            <a:pPr lvl="2" algn="just"/>
            <a:endParaRPr lang="en-US" sz="2400" dirty="0">
              <a:solidFill>
                <a:schemeClr val="bg1"/>
              </a:solidFill>
              <a:latin typeface="Times New Roman" panose="02020603050405020304" pitchFamily="18" charset="0"/>
              <a:cs typeface="Times New Roman" panose="02020603050405020304" pitchFamily="18" charset="0"/>
            </a:endParaRPr>
          </a:p>
          <a:p>
            <a:pPr lvl="2" algn="just"/>
            <a:r>
              <a:rPr lang="en-US" sz="2400" b="1" dirty="0">
                <a:solidFill>
                  <a:schemeClr val="bg1"/>
                </a:solidFill>
                <a:latin typeface="Times New Roman" panose="02020603050405020304" pitchFamily="18" charset="0"/>
                <a:cs typeface="Times New Roman" panose="02020603050405020304" pitchFamily="18" charset="0"/>
              </a:rPr>
              <a:t>4.Data Collection and Preprocessing</a:t>
            </a:r>
            <a:r>
              <a:rPr lang="en-US" sz="2400" dirty="0">
                <a:solidFill>
                  <a:schemeClr val="bg1"/>
                </a:solidFill>
                <a:latin typeface="Times New Roman" panose="02020603050405020304" pitchFamily="18" charset="0"/>
                <a:cs typeface="Times New Roman" panose="02020603050405020304" pitchFamily="18" charset="0"/>
              </a:rPr>
              <a:t>: The research employs a diverse dataset of facial images and videos representing various emotions. Preprocessing steps, including normalization and augmentation, are implemented to enhance data quality and ensure robust training of the models.</a:t>
            </a:r>
          </a:p>
        </p:txBody>
      </p:sp>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468600" y="9420447"/>
            <a:ext cx="19050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11</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21651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27A23B-D16C-BC4E-A49F-0571964B453C}"/>
              </a:ext>
            </a:extLst>
          </p:cNvPr>
          <p:cNvSpPr txBox="1"/>
          <p:nvPr/>
        </p:nvSpPr>
        <p:spPr>
          <a:xfrm>
            <a:off x="914400" y="404888"/>
            <a:ext cx="16230600" cy="6124754"/>
          </a:xfrm>
          <a:prstGeom prst="rect">
            <a:avLst/>
          </a:prstGeom>
          <a:noFill/>
        </p:spPr>
        <p:txBody>
          <a:bodyPr wrap="square" rtlCol="0">
            <a:spAutoFit/>
          </a:bodyPr>
          <a:lstStyle/>
          <a:p>
            <a:pPr lvl="2" algn="just"/>
            <a:r>
              <a:rPr lang="en-US" sz="2800" b="1" dirty="0">
                <a:solidFill>
                  <a:schemeClr val="bg1"/>
                </a:solidFill>
                <a:latin typeface="Times New Roman" panose="02020603050405020304" pitchFamily="18" charset="0"/>
                <a:cs typeface="Times New Roman" panose="02020603050405020304" pitchFamily="18" charset="0"/>
              </a:rPr>
              <a:t>5.Performance Metrics</a:t>
            </a:r>
            <a:r>
              <a:rPr lang="en-US" sz="2800" dirty="0">
                <a:solidFill>
                  <a:schemeClr val="bg1"/>
                </a:solidFill>
                <a:latin typeface="Times New Roman" panose="02020603050405020304" pitchFamily="18" charset="0"/>
                <a:cs typeface="Times New Roman" panose="02020603050405020304" pitchFamily="18" charset="0"/>
              </a:rPr>
              <a:t>: To assess the effectiveness of the proposed approach, the study utilizes key performance metrics such as accuracy, precision, recall, and F1 score. These metrics provide a comprehensive view of the model's ability to accurately identify emotions while minimizing false positives and negatives.</a:t>
            </a:r>
          </a:p>
          <a:p>
            <a:pPr lvl="2" algn="just"/>
            <a:endParaRPr lang="en-US" sz="2800" dirty="0">
              <a:solidFill>
                <a:schemeClr val="bg1"/>
              </a:solidFill>
              <a:latin typeface="Times New Roman" panose="02020603050405020304" pitchFamily="18" charset="0"/>
              <a:cs typeface="Times New Roman" panose="02020603050405020304" pitchFamily="18" charset="0"/>
            </a:endParaRPr>
          </a:p>
          <a:p>
            <a:pPr lvl="2" algn="just"/>
            <a:r>
              <a:rPr lang="en-US" sz="2800" b="1" dirty="0">
                <a:solidFill>
                  <a:schemeClr val="bg1"/>
                </a:solidFill>
                <a:latin typeface="Times New Roman" panose="02020603050405020304" pitchFamily="18" charset="0"/>
                <a:cs typeface="Times New Roman" panose="02020603050405020304" pitchFamily="18" charset="0"/>
              </a:rPr>
              <a:t>6.Real-World Applications</a:t>
            </a:r>
            <a:r>
              <a:rPr lang="en-US" sz="2800" dirty="0">
                <a:solidFill>
                  <a:schemeClr val="bg1"/>
                </a:solidFill>
                <a:latin typeface="Times New Roman" panose="02020603050405020304" pitchFamily="18" charset="0"/>
                <a:cs typeface="Times New Roman" panose="02020603050405020304" pitchFamily="18" charset="0"/>
              </a:rPr>
              <a:t>: The methodology is designed with practical applications in mind, allowing for integration into emotion detection technologies across sectors such as healthcare, education, and entertainment. By ensuring that the approach is adaptable and reliable, the research aims to set a foundation for future innovations in affective computing.</a:t>
            </a:r>
          </a:p>
          <a:p>
            <a:pPr algn="just"/>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In summary, the proposed approach combines advanced pattern recognition techniques with a thorough evaluation of machine learning algorithms, resulting in a significant enhancement of facial expression recognition capabilities. This methodological innovation not only contributes to the academic field but also has the potential to transform practical applications in human-computer interaction.</a:t>
            </a:r>
          </a:p>
        </p:txBody>
      </p:sp>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544800" y="9420447"/>
            <a:ext cx="19050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12</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39005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468600" y="9420447"/>
            <a:ext cx="19050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13</a:t>
            </a:r>
            <a:r>
              <a:rPr lang="en-US" dirty="0">
                <a:latin typeface="Times New Roman" panose="02020603050405020304" pitchFamily="18" charset="0"/>
                <a:cs typeface="Times New Roman" panose="02020603050405020304" pitchFamily="18" charset="0"/>
              </a:rPr>
              <a:t>:</a:t>
            </a:r>
          </a:p>
        </p:txBody>
      </p:sp>
      <p:sp>
        <p:nvSpPr>
          <p:cNvPr id="2" name="TextBox 1">
            <a:extLst>
              <a:ext uri="{FF2B5EF4-FFF2-40B4-BE49-F238E27FC236}">
                <a16:creationId xmlns:a16="http://schemas.microsoft.com/office/drawing/2014/main" id="{6771D57D-0943-9F47-AD81-5EB551412E98}"/>
              </a:ext>
            </a:extLst>
          </p:cNvPr>
          <p:cNvSpPr txBox="1"/>
          <p:nvPr/>
        </p:nvSpPr>
        <p:spPr>
          <a:xfrm>
            <a:off x="1219200" y="1003816"/>
            <a:ext cx="15849600" cy="5816977"/>
          </a:xfrm>
          <a:prstGeom prst="rect">
            <a:avLst/>
          </a:prstGeom>
          <a:noFill/>
        </p:spPr>
        <p:txBody>
          <a:bodyPr wrap="square" rtlCol="0">
            <a:spAutoFit/>
          </a:bodyPr>
          <a:lstStyle/>
          <a:p>
            <a:pPr lvl="0" algn="just"/>
            <a:r>
              <a:rPr lang="en-US" sz="3200" b="1" dirty="0">
                <a:solidFill>
                  <a:schemeClr val="bg1"/>
                </a:solidFill>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Literature Review</a:t>
            </a:r>
          </a:p>
          <a:p>
            <a:pPr algn="just"/>
            <a:r>
              <a:rPr lang="en-US" sz="2800" b="1" dirty="0">
                <a:solidFill>
                  <a:schemeClr val="bg1"/>
                </a:solidFill>
                <a:latin typeface="Times New Roman" panose="02020603050405020304" pitchFamily="18" charset="0"/>
                <a:cs typeface="Times New Roman" panose="02020603050405020304" pitchFamily="18" charset="0"/>
              </a:rPr>
              <a:t> </a:t>
            </a:r>
            <a:endParaRPr lang="en-US" sz="2800" dirty="0">
              <a:solidFill>
                <a:schemeClr val="bg1"/>
              </a:solidFill>
              <a:latin typeface="Times New Roman" panose="02020603050405020304" pitchFamily="18" charset="0"/>
              <a:cs typeface="Times New Roman" panose="02020603050405020304" pitchFamily="18" charset="0"/>
            </a:endParaRP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Historical Development of Facial Expression Recognition</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dirty="0">
                <a:solidFill>
                  <a:schemeClr val="bg1"/>
                </a:solidFill>
                <a:latin typeface="Times New Roman" panose="02020603050405020304" pitchFamily="18" charset="0"/>
                <a:cs typeface="Times New Roman" panose="02020603050405020304" pitchFamily="18" charset="0"/>
              </a:rPr>
              <a:t>The development of facial expression recognition has been a transformative journey, shaping the field through several milestones. In the early stages, systems relied primarily on manual coding techniques, where human observers laboriously identified facial features. These labor-intensive methods laid the foundation for later advances in computer vision, fostering the integration of algorithms such as Principal Component Analysis (PCA) and Hidden Markov Models (HMM). While these innovations provided the basic framework for capturing the dynamics of facial expressions, the advent of machine learning, particularly deep learning architectures, has revolutionized the field. It has enabled the ability to recognize complex emotional nuances in natural scenes with unprecedented accuracy.</a:t>
            </a:r>
          </a:p>
        </p:txBody>
      </p:sp>
    </p:spTree>
    <p:extLst>
      <p:ext uri="{BB962C8B-B14F-4D97-AF65-F5344CB8AC3E}">
        <p14:creationId xmlns:p14="http://schemas.microsoft.com/office/powerpoint/2010/main" val="3107986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455849" y="9866921"/>
            <a:ext cx="19050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14</a:t>
            </a:r>
            <a:r>
              <a:rPr lang="en-US" dirty="0">
                <a:latin typeface="Times New Roman" panose="02020603050405020304" pitchFamily="18" charset="0"/>
                <a:cs typeface="Times New Roman" panose="02020603050405020304" pitchFamily="18" charset="0"/>
              </a:rPr>
              <a:t>:</a:t>
            </a:r>
          </a:p>
        </p:txBody>
      </p:sp>
      <p:pic>
        <p:nvPicPr>
          <p:cNvPr id="5" name="Image 10">
            <a:extLst>
              <a:ext uri="{FF2B5EF4-FFF2-40B4-BE49-F238E27FC236}">
                <a16:creationId xmlns:a16="http://schemas.microsoft.com/office/drawing/2014/main" id="{EA854547-2889-954B-89BD-E7F332E8CC16}"/>
              </a:ext>
            </a:extLst>
          </p:cNvPr>
          <p:cNvPicPr/>
          <p:nvPr/>
        </p:nvPicPr>
        <p:blipFill>
          <a:blip r:embed="rId2" cstate="print"/>
          <a:stretch>
            <a:fillRect/>
          </a:stretch>
        </p:blipFill>
        <p:spPr>
          <a:xfrm>
            <a:off x="2133600" y="1257300"/>
            <a:ext cx="13868400" cy="7391400"/>
          </a:xfrm>
          <a:prstGeom prst="rect">
            <a:avLst/>
          </a:prstGeom>
        </p:spPr>
      </p:pic>
      <p:sp>
        <p:nvSpPr>
          <p:cNvPr id="4" name="TextBox 3">
            <a:extLst>
              <a:ext uri="{FF2B5EF4-FFF2-40B4-BE49-F238E27FC236}">
                <a16:creationId xmlns:a16="http://schemas.microsoft.com/office/drawing/2014/main" id="{70578D97-F30C-2E42-801B-81DD05A14250}"/>
              </a:ext>
            </a:extLst>
          </p:cNvPr>
          <p:cNvSpPr txBox="1"/>
          <p:nvPr/>
        </p:nvSpPr>
        <p:spPr>
          <a:xfrm>
            <a:off x="1943100" y="8897425"/>
            <a:ext cx="14401800" cy="1200329"/>
          </a:xfrm>
          <a:prstGeom prst="rect">
            <a:avLst/>
          </a:prstGeom>
          <a:noFill/>
        </p:spPr>
        <p:txBody>
          <a:bodyPr wrap="square" rtlCol="0">
            <a:spAutoFit/>
          </a:bodyPr>
          <a:lstStyle/>
          <a:p>
            <a:r>
              <a:rPr lang="en-US" sz="2400" b="1" i="1" dirty="0">
                <a:solidFill>
                  <a:schemeClr val="bg1"/>
                </a:solidFill>
                <a:latin typeface="Times New Roman" panose="02020603050405020304" pitchFamily="18" charset="0"/>
                <a:cs typeface="Times New Roman" panose="02020603050405020304" pitchFamily="18" charset="0"/>
              </a:rPr>
              <a:t>Figure 2: Timeline of the studies related to feature extraction techniques for facial expression. Adapted from </a:t>
            </a:r>
            <a:r>
              <a:rPr lang="en-US" sz="2400" b="1" i="1" dirty="0" err="1">
                <a:solidFill>
                  <a:schemeClr val="bg1"/>
                </a:solidFill>
                <a:latin typeface="Times New Roman" panose="02020603050405020304" pitchFamily="18" charset="0"/>
                <a:cs typeface="Times New Roman" panose="02020603050405020304" pitchFamily="18" charset="0"/>
              </a:rPr>
              <a:t>Kommineni</a:t>
            </a:r>
            <a:r>
              <a:rPr lang="en-US" sz="2400" b="1" i="1" dirty="0">
                <a:solidFill>
                  <a:schemeClr val="bg1"/>
                </a:solidFill>
                <a:latin typeface="Times New Roman" panose="02020603050405020304" pitchFamily="18" charset="0"/>
                <a:cs typeface="Times New Roman" panose="02020603050405020304" pitchFamily="18" charset="0"/>
              </a:rPr>
              <a:t> et al. (2021), Accurate computing of facial expression recognition using a hybrid feature extraction technique, The Journal of Supercomputing, 77(11), 1-26. DOI: 10.1007/s11227-020-03468-8</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3065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659987" y="9673430"/>
            <a:ext cx="2766236"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15</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0578D97-F30C-2E42-801B-81DD05A14250}"/>
              </a:ext>
            </a:extLst>
          </p:cNvPr>
          <p:cNvSpPr txBox="1"/>
          <p:nvPr/>
        </p:nvSpPr>
        <p:spPr>
          <a:xfrm>
            <a:off x="457200" y="151905"/>
            <a:ext cx="16916400" cy="9694962"/>
          </a:xfrm>
          <a:prstGeom prst="rect">
            <a:avLst/>
          </a:prstGeom>
          <a:noFill/>
        </p:spPr>
        <p:txBody>
          <a:bodyPr wrap="square" rtlCol="0">
            <a:spAutoFit/>
          </a:bodyPr>
          <a:lstStyle/>
          <a:p>
            <a:pPr algn="just"/>
            <a:r>
              <a:rPr lang="en-US" sz="2400" b="1" dirty="0">
                <a:solidFill>
                  <a:schemeClr val="bg1">
                    <a:lumMod val="95000"/>
                  </a:schemeClr>
                </a:solidFill>
                <a:latin typeface="Times New Roman" panose="02020603050405020304" pitchFamily="18" charset="0"/>
                <a:cs typeface="Times New Roman" panose="02020603050405020304" pitchFamily="18" charset="0"/>
              </a:rPr>
              <a:t>Review of Current Methodologies</a:t>
            </a:r>
          </a:p>
          <a:p>
            <a:pPr algn="just"/>
            <a:endParaRPr lang="en-US" sz="2400" b="1" dirty="0">
              <a:solidFill>
                <a:schemeClr val="bg1">
                  <a:lumMod val="95000"/>
                </a:schemeClr>
              </a:solidFill>
              <a:latin typeface="Times New Roman" panose="02020603050405020304" pitchFamily="18" charset="0"/>
              <a:cs typeface="Times New Roman" panose="02020603050405020304" pitchFamily="18" charset="0"/>
            </a:endParaRPr>
          </a:p>
          <a:p>
            <a:pPr algn="just"/>
            <a:r>
              <a:rPr lang="en-US" sz="2400" b="1" dirty="0">
                <a:solidFill>
                  <a:schemeClr val="bg1">
                    <a:lumMod val="95000"/>
                  </a:schemeClr>
                </a:solidFill>
                <a:latin typeface="Times New Roman" panose="02020603050405020304" pitchFamily="18" charset="0"/>
                <a:cs typeface="Times New Roman" panose="02020603050405020304" pitchFamily="18" charset="0"/>
              </a:rPr>
              <a:t>Approaches: Strengths and Limitations</a:t>
            </a:r>
          </a:p>
          <a:p>
            <a:pPr algn="just"/>
            <a:r>
              <a:rPr lang="en-US" sz="2400" b="1" dirty="0">
                <a:solidFill>
                  <a:schemeClr val="bg1">
                    <a:lumMod val="95000"/>
                  </a:schemeClr>
                </a:solidFill>
                <a:latin typeface="Times New Roman" panose="02020603050405020304" pitchFamily="18" charset="0"/>
                <a:cs typeface="Times New Roman" panose="02020603050405020304" pitchFamily="18" charset="0"/>
              </a:rPr>
              <a:t> </a:t>
            </a:r>
            <a:endParaRPr lang="en-US" sz="2400" dirty="0">
              <a:solidFill>
                <a:schemeClr val="bg1">
                  <a:lumMod val="95000"/>
                </a:schemeClr>
              </a:solidFill>
              <a:latin typeface="Times New Roman" panose="02020603050405020304" pitchFamily="18" charset="0"/>
              <a:cs typeface="Times New Roman" panose="02020603050405020304" pitchFamily="18" charset="0"/>
            </a:endParaRPr>
          </a:p>
          <a:p>
            <a:pPr algn="just"/>
            <a:r>
              <a:rPr lang="en-US" sz="2400" dirty="0">
                <a:solidFill>
                  <a:schemeClr val="bg1">
                    <a:lumMod val="95000"/>
                  </a:schemeClr>
                </a:solidFill>
                <a:latin typeface="Times New Roman" panose="02020603050405020304" pitchFamily="18" charset="0"/>
                <a:cs typeface="Times New Roman" panose="02020603050405020304" pitchFamily="18" charset="0"/>
              </a:rPr>
              <a:t>Traditional methodologies, such as geometric feature extraction and template matching, offered valuable insights into basic emotional expressions. Yet, their limitations became increasingly apparent with the growing complexity of real-world scenarios, where variability in lighting, facial occlusions, and individual differences hindered consistent performance. These methods, while historically significant, often lacked the robustness needed for nuanced emotional analysis.</a:t>
            </a:r>
          </a:p>
          <a:p>
            <a:pPr algn="just"/>
            <a:r>
              <a:rPr lang="en-US" sz="2400" dirty="0">
                <a:solidFill>
                  <a:schemeClr val="bg1">
                    <a:lumMod val="95000"/>
                  </a:schemeClr>
                </a:solidFill>
                <a:latin typeface="Times New Roman" panose="02020603050405020304" pitchFamily="18" charset="0"/>
                <a:cs typeface="Times New Roman" panose="02020603050405020304" pitchFamily="18" charset="0"/>
              </a:rPr>
              <a:t> </a:t>
            </a:r>
          </a:p>
          <a:p>
            <a:pPr algn="just"/>
            <a:r>
              <a:rPr lang="en-US" sz="2400" b="1" dirty="0">
                <a:solidFill>
                  <a:schemeClr val="bg1">
                    <a:lumMod val="95000"/>
                  </a:schemeClr>
                </a:solidFill>
                <a:latin typeface="Times New Roman" panose="02020603050405020304" pitchFamily="18" charset="0"/>
                <a:cs typeface="Times New Roman" panose="02020603050405020304" pitchFamily="18" charset="0"/>
              </a:rPr>
              <a:t>Recent Advances in Machine Learning for Emotion Recognition</a:t>
            </a:r>
          </a:p>
          <a:p>
            <a:pPr algn="just"/>
            <a:r>
              <a:rPr lang="en-US" sz="2400" dirty="0">
                <a:solidFill>
                  <a:schemeClr val="bg1">
                    <a:lumMod val="95000"/>
                  </a:schemeClr>
                </a:solidFill>
                <a:latin typeface="Times New Roman" panose="02020603050405020304" pitchFamily="18" charset="0"/>
                <a:cs typeface="Times New Roman" panose="02020603050405020304" pitchFamily="18" charset="0"/>
              </a:rPr>
              <a:t>The integration of machine learning has significantly transformed the efficacy of facial expression recognition systems. Algorithms such as K-Nearest Neighbors (KNN), Support Vector Machines (SVM), and ensemble methods, including Random Forests and Gradient Boosting, have demonstrated remarkable improvements in performance metrics. Notably, deep learning frameworks have emerged as powerful tools, capable of extracting complex, high-dimensional features from facial images, thereby enhancing emotion detection capabilities.</a:t>
            </a:r>
          </a:p>
          <a:p>
            <a:pPr algn="just"/>
            <a:endParaRPr lang="en-US" sz="2400" dirty="0">
              <a:solidFill>
                <a:schemeClr val="bg1">
                  <a:lumMod val="95000"/>
                </a:schemeClr>
              </a:solidFill>
              <a:latin typeface="Times New Roman" panose="02020603050405020304" pitchFamily="18" charset="0"/>
              <a:cs typeface="Times New Roman" panose="02020603050405020304" pitchFamily="18" charset="0"/>
            </a:endParaRPr>
          </a:p>
          <a:p>
            <a:pPr algn="just"/>
            <a:r>
              <a:rPr lang="en-US" sz="2400" b="1" dirty="0">
                <a:solidFill>
                  <a:schemeClr val="bg1">
                    <a:lumMod val="95000"/>
                  </a:schemeClr>
                </a:solidFill>
                <a:latin typeface="Times New Roman" panose="02020603050405020304" pitchFamily="18" charset="0"/>
                <a:cs typeface="Times New Roman" panose="02020603050405020304" pitchFamily="18" charset="0"/>
              </a:rPr>
              <a:t>Comparative Analysis of Algorithms</a:t>
            </a:r>
          </a:p>
          <a:p>
            <a:pPr algn="just"/>
            <a:r>
              <a:rPr lang="en-US" sz="2400" b="1" dirty="0">
                <a:solidFill>
                  <a:schemeClr val="bg1">
                    <a:lumMod val="95000"/>
                  </a:schemeClr>
                </a:solidFill>
                <a:latin typeface="Times New Roman" panose="02020603050405020304" pitchFamily="18" charset="0"/>
                <a:cs typeface="Times New Roman" panose="02020603050405020304" pitchFamily="18" charset="0"/>
              </a:rPr>
              <a:t>Evaluation of Machine Learning Techniques in Facial Expression Recognition</a:t>
            </a:r>
          </a:p>
          <a:p>
            <a:pPr algn="just"/>
            <a:r>
              <a:rPr lang="en-US" sz="2400" b="1" dirty="0">
                <a:solidFill>
                  <a:schemeClr val="bg1">
                    <a:lumMod val="95000"/>
                  </a:schemeClr>
                </a:solidFill>
                <a:latin typeface="Times New Roman" panose="02020603050405020304" pitchFamily="18" charset="0"/>
                <a:cs typeface="Times New Roman" panose="02020603050405020304" pitchFamily="18" charset="0"/>
              </a:rPr>
              <a:t> </a:t>
            </a:r>
          </a:p>
          <a:p>
            <a:pPr algn="just"/>
            <a:r>
              <a:rPr lang="en-US" sz="2400" dirty="0">
                <a:solidFill>
                  <a:schemeClr val="bg1">
                    <a:lumMod val="95000"/>
                  </a:schemeClr>
                </a:solidFill>
                <a:latin typeface="Times New Roman" panose="02020603050405020304" pitchFamily="18" charset="0"/>
                <a:cs typeface="Times New Roman" panose="02020603050405020304" pitchFamily="18" charset="0"/>
              </a:rPr>
              <a:t>This thesis introduces a novel approach to significantly improve the accuracy of facial expression recognition using cosine-based local transitional patterns with dynamic radius adjustment. It includes a comprehensive evaluation of various machine learning algorithms—such as KNN, SVM, decision tree, random forest, logistic regression, and gradient boosting—which provides important insights.</a:t>
            </a:r>
          </a:p>
          <a:p>
            <a:pPr algn="just"/>
            <a:r>
              <a:rPr lang="en-US" sz="2400" dirty="0">
                <a:solidFill>
                  <a:schemeClr val="bg1">
                    <a:lumMod val="95000"/>
                  </a:schemeClr>
                </a:solidFill>
                <a:latin typeface="Times New Roman" panose="02020603050405020304" pitchFamily="18" charset="0"/>
                <a:cs typeface="Times New Roman" panose="02020603050405020304" pitchFamily="18" charset="0"/>
              </a:rPr>
              <a:t>Among the evaluated models, Logistic Regression stands out as the most effective, achieving an impressive accuracy of 85.87%. Its precision and recall values of 82.05% and 85.87%, respectively, reflect a robust capacity to discern subtle patterns in facial expressions while minimizing false positives. In comparison, Random Forest and Gradient Boosting models demonstrated commendable accuracies of 79.35% and 80.43%, respectively, yet fell short of matching the exceptional performance of Logistic Regression.</a:t>
            </a:r>
          </a:p>
        </p:txBody>
      </p:sp>
    </p:spTree>
    <p:extLst>
      <p:ext uri="{BB962C8B-B14F-4D97-AF65-F5344CB8AC3E}">
        <p14:creationId xmlns:p14="http://schemas.microsoft.com/office/powerpoint/2010/main" val="999640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163800" y="9714852"/>
            <a:ext cx="2690036"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16</a:t>
            </a:r>
            <a:endParaRPr lang="en-US"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60A50E57-CA00-F040-93D8-953363359EC4}"/>
              </a:ext>
            </a:extLst>
          </p:cNvPr>
          <p:cNvGraphicFramePr>
            <a:graphicFrameLocks noGrp="1"/>
          </p:cNvGraphicFramePr>
          <p:nvPr>
            <p:extLst>
              <p:ext uri="{D42A27DB-BD31-4B8C-83A1-F6EECF244321}">
                <p14:modId xmlns:p14="http://schemas.microsoft.com/office/powerpoint/2010/main" val="769036152"/>
              </p:ext>
            </p:extLst>
          </p:nvPr>
        </p:nvGraphicFramePr>
        <p:xfrm>
          <a:off x="1600200" y="1033536"/>
          <a:ext cx="15087600" cy="7327102"/>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850204644"/>
                    </a:ext>
                  </a:extLst>
                </a:gridCol>
                <a:gridCol w="3017520">
                  <a:extLst>
                    <a:ext uri="{9D8B030D-6E8A-4147-A177-3AD203B41FA5}">
                      <a16:colId xmlns:a16="http://schemas.microsoft.com/office/drawing/2014/main" val="1138491603"/>
                    </a:ext>
                  </a:extLst>
                </a:gridCol>
                <a:gridCol w="3017520">
                  <a:extLst>
                    <a:ext uri="{9D8B030D-6E8A-4147-A177-3AD203B41FA5}">
                      <a16:colId xmlns:a16="http://schemas.microsoft.com/office/drawing/2014/main" val="3005671153"/>
                    </a:ext>
                  </a:extLst>
                </a:gridCol>
                <a:gridCol w="3017520">
                  <a:extLst>
                    <a:ext uri="{9D8B030D-6E8A-4147-A177-3AD203B41FA5}">
                      <a16:colId xmlns:a16="http://schemas.microsoft.com/office/drawing/2014/main" val="3478275944"/>
                    </a:ext>
                  </a:extLst>
                </a:gridCol>
                <a:gridCol w="3017520">
                  <a:extLst>
                    <a:ext uri="{9D8B030D-6E8A-4147-A177-3AD203B41FA5}">
                      <a16:colId xmlns:a16="http://schemas.microsoft.com/office/drawing/2014/main" val="2633375896"/>
                    </a:ext>
                  </a:extLst>
                </a:gridCol>
              </a:tblGrid>
              <a:tr h="1252353">
                <a:tc>
                  <a:txBody>
                    <a:bodyPr/>
                    <a:lstStyle/>
                    <a:p>
                      <a:pPr algn="ctr"/>
                      <a:r>
                        <a:rPr lang="en-US" sz="3200" b="1" kern="1200" dirty="0">
                          <a:solidFill>
                            <a:schemeClr val="tx1"/>
                          </a:solidFill>
                          <a:effectLst/>
                          <a:latin typeface="Times New Roman" panose="02020603050405020304" pitchFamily="18" charset="0"/>
                          <a:ea typeface="+mn-ea"/>
                          <a:cs typeface="Times New Roman" panose="02020603050405020304" pitchFamily="18" charset="0"/>
                        </a:rPr>
                        <a:t>      Algorithm</a:t>
                      </a:r>
                      <a:r>
                        <a:rPr lang="en-US" sz="3200" dirty="0">
                          <a:solidFill>
                            <a:schemeClr val="tx1"/>
                          </a:solidFill>
                          <a:effectLst/>
                          <a:latin typeface="Times New Roman" panose="02020603050405020304" pitchFamily="18" charset="0"/>
                          <a:cs typeface="Times New Roman" panose="02020603050405020304" pitchFamily="18" charset="0"/>
                        </a:rPr>
                        <a:t> </a:t>
                      </a:r>
                      <a:endParaRPr lang="en-US" sz="32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3200" b="1" kern="1200" dirty="0">
                          <a:solidFill>
                            <a:schemeClr val="tx1"/>
                          </a:solidFill>
                          <a:effectLst/>
                          <a:latin typeface="Times New Roman" panose="02020603050405020304" pitchFamily="18" charset="0"/>
                          <a:ea typeface="+mn-ea"/>
                          <a:cs typeface="Times New Roman" panose="02020603050405020304" pitchFamily="18" charset="0"/>
                        </a:rPr>
                        <a:t>    Accuracy (%)</a:t>
                      </a:r>
                      <a:r>
                        <a:rPr lang="en-US" sz="3200" dirty="0">
                          <a:solidFill>
                            <a:schemeClr val="tx1"/>
                          </a:solidFill>
                          <a:effectLst/>
                          <a:latin typeface="Times New Roman" panose="02020603050405020304" pitchFamily="18" charset="0"/>
                          <a:cs typeface="Times New Roman" panose="02020603050405020304" pitchFamily="18" charset="0"/>
                        </a:rPr>
                        <a:t> </a:t>
                      </a:r>
                      <a:endParaRPr lang="en-US" sz="32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3200" b="1" kern="1200" dirty="0">
                          <a:solidFill>
                            <a:schemeClr val="tx1"/>
                          </a:solidFill>
                          <a:effectLst/>
                          <a:latin typeface="Times New Roman" panose="02020603050405020304" pitchFamily="18" charset="0"/>
                          <a:ea typeface="+mn-ea"/>
                          <a:cs typeface="Times New Roman" panose="02020603050405020304" pitchFamily="18" charset="0"/>
                        </a:rPr>
                        <a:t>Precision (%)</a:t>
                      </a:r>
                      <a:r>
                        <a:rPr lang="en-US" sz="3200" dirty="0">
                          <a:solidFill>
                            <a:schemeClr val="tx1"/>
                          </a:solidFill>
                          <a:effectLst/>
                          <a:latin typeface="Times New Roman" panose="02020603050405020304" pitchFamily="18" charset="0"/>
                          <a:cs typeface="Times New Roman" panose="02020603050405020304" pitchFamily="18" charset="0"/>
                        </a:rPr>
                        <a:t> </a:t>
                      </a:r>
                      <a:endParaRPr lang="en-US" sz="32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3200" b="1" kern="1200" dirty="0">
                          <a:solidFill>
                            <a:schemeClr val="tx1"/>
                          </a:solidFill>
                          <a:effectLst/>
                          <a:latin typeface="Times New Roman" panose="02020603050405020304" pitchFamily="18" charset="0"/>
                          <a:ea typeface="+mn-ea"/>
                          <a:cs typeface="Times New Roman" panose="02020603050405020304" pitchFamily="18" charset="0"/>
                        </a:rPr>
                        <a:t>Recall (%)</a:t>
                      </a:r>
                      <a:r>
                        <a:rPr lang="en-US" sz="3200" dirty="0">
                          <a:solidFill>
                            <a:schemeClr val="tx1"/>
                          </a:solidFill>
                          <a:effectLst/>
                          <a:latin typeface="Times New Roman" panose="02020603050405020304" pitchFamily="18" charset="0"/>
                          <a:cs typeface="Times New Roman" panose="02020603050405020304" pitchFamily="18" charset="0"/>
                        </a:rPr>
                        <a:t> </a:t>
                      </a:r>
                      <a:endParaRPr lang="en-US" sz="32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3200" b="1" kern="1200" dirty="0">
                          <a:solidFill>
                            <a:schemeClr val="tx1"/>
                          </a:solidFill>
                          <a:effectLst/>
                          <a:latin typeface="Times New Roman" panose="02020603050405020304" pitchFamily="18" charset="0"/>
                          <a:ea typeface="+mn-ea"/>
                          <a:cs typeface="Times New Roman" panose="02020603050405020304" pitchFamily="18" charset="0"/>
                        </a:rPr>
                        <a:t>F1 Score (%)</a:t>
                      </a:r>
                      <a:r>
                        <a:rPr lang="en-US" sz="3200" dirty="0">
                          <a:solidFill>
                            <a:schemeClr val="tx1"/>
                          </a:solidFill>
                          <a:effectLst/>
                          <a:latin typeface="Times New Roman" panose="02020603050405020304" pitchFamily="18" charset="0"/>
                          <a:cs typeface="Times New Roman" panose="02020603050405020304" pitchFamily="18" charset="0"/>
                        </a:rPr>
                        <a:t> </a:t>
                      </a:r>
                      <a:endParaRPr lang="en-US" sz="32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47823790"/>
                  </a:ext>
                </a:extLst>
              </a:tr>
              <a:tr h="1010587">
                <a:tc>
                  <a:txBody>
                    <a:bodyPr/>
                    <a:lstStyle/>
                    <a:p>
                      <a:r>
                        <a:rPr lang="en-US" sz="2800" kern="1200" dirty="0">
                          <a:solidFill>
                            <a:schemeClr val="dk1"/>
                          </a:solidFill>
                          <a:effectLst/>
                          <a:latin typeface="Times New Roman" panose="02020603050405020304" pitchFamily="18" charset="0"/>
                          <a:ea typeface="+mn-ea"/>
                          <a:cs typeface="Times New Roman" panose="02020603050405020304" pitchFamily="18" charset="0"/>
                        </a:rPr>
                        <a:t>K-Nearest</a:t>
                      </a:r>
                    </a:p>
                    <a:p>
                      <a:r>
                        <a:rPr lang="en-US" sz="2800" kern="1200" dirty="0">
                          <a:solidFill>
                            <a:schemeClr val="dk1"/>
                          </a:solidFill>
                          <a:effectLst/>
                          <a:latin typeface="Times New Roman" panose="02020603050405020304" pitchFamily="18" charset="0"/>
                          <a:ea typeface="+mn-ea"/>
                          <a:cs typeface="Times New Roman" panose="02020603050405020304" pitchFamily="18" charset="0"/>
                        </a:rPr>
                        <a:t>Neighbors</a:t>
                      </a:r>
                      <a:r>
                        <a:rPr lang="en-US" sz="2800" dirty="0">
                          <a:effectLst/>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65.76</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54.26</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marL="8890" marR="2540" algn="ctr">
                        <a:lnSpc>
                          <a:spcPts val="1375"/>
                        </a:lnSpc>
                        <a:spcAft>
                          <a:spcPts val="0"/>
                        </a:spcAft>
                      </a:pPr>
                      <a:endParaRPr lang="en-US" sz="1100" dirty="0">
                        <a:effectLst/>
                        <a:latin typeface="Calibri" panose="020F0502020204030204" pitchFamily="34" charset="0"/>
                        <a:ea typeface="Calibri" panose="020F0502020204030204" pitchFamily="34" charset="0"/>
                        <a:cs typeface="Vrinda" panose="020B0502040204020203" pitchFamily="34" charset="0"/>
                      </a:endParaRPr>
                    </a:p>
                    <a:p>
                      <a:pPr marL="8890" marR="2540" algn="ctr">
                        <a:lnSpc>
                          <a:spcPts val="1375"/>
                        </a:lnSpc>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65.76</a:t>
                      </a:r>
                    </a:p>
                  </a:txBody>
                  <a:tcPr marL="0" marR="0" marT="0" marB="0"/>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54.88</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32679"/>
                  </a:ext>
                </a:extLst>
              </a:tr>
              <a:tr h="1010587">
                <a:tc>
                  <a:txBody>
                    <a:bodyPr/>
                    <a:lstStyle/>
                    <a:p>
                      <a:r>
                        <a:rPr lang="en-US" sz="2800" kern="1200" dirty="0">
                          <a:solidFill>
                            <a:schemeClr val="dk1"/>
                          </a:solidFill>
                          <a:effectLst/>
                          <a:latin typeface="Times New Roman" panose="02020603050405020304" pitchFamily="18" charset="0"/>
                          <a:ea typeface="+mn-ea"/>
                          <a:cs typeface="Times New Roman" panose="02020603050405020304" pitchFamily="18" charset="0"/>
                        </a:rPr>
                        <a:t>Support Vector</a:t>
                      </a:r>
                    </a:p>
                    <a:p>
                      <a:r>
                        <a:rPr lang="en-US" sz="2800" kern="1200" dirty="0">
                          <a:solidFill>
                            <a:schemeClr val="dk1"/>
                          </a:solidFill>
                          <a:effectLst/>
                          <a:latin typeface="Times New Roman" panose="02020603050405020304" pitchFamily="18" charset="0"/>
                          <a:ea typeface="+mn-ea"/>
                          <a:cs typeface="Times New Roman" panose="02020603050405020304" pitchFamily="18" charset="0"/>
                        </a:rPr>
                        <a:t>Machine</a:t>
                      </a:r>
                      <a:r>
                        <a:rPr lang="en-US" sz="2800" dirty="0">
                          <a:effectLst/>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78.26</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70.72</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78.26</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70.43</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05902038"/>
                  </a:ext>
                </a:extLst>
              </a:tr>
              <a:tr h="1021814">
                <a:tc>
                  <a:txBody>
                    <a:bodyPr/>
                    <a:lstStyle/>
                    <a:p>
                      <a:pPr algn="l"/>
                      <a:endParaRPr lang="en-US" sz="3200" dirty="0">
                        <a:latin typeface="Times New Roman" panose="02020603050405020304" pitchFamily="18" charset="0"/>
                        <a:cs typeface="Times New Roman" panose="02020603050405020304" pitchFamily="18" charset="0"/>
                      </a:endParaRPr>
                    </a:p>
                    <a:p>
                      <a:pPr algn="l"/>
                      <a:r>
                        <a:rPr lang="en-US" sz="2800" dirty="0">
                          <a:latin typeface="Times New Roman" panose="02020603050405020304" pitchFamily="18" charset="0"/>
                          <a:cs typeface="Times New Roman" panose="02020603050405020304" pitchFamily="18" charset="0"/>
                        </a:rPr>
                        <a:t>Decision Tree</a:t>
                      </a: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69.57</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69.36</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69.57</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69.27</a:t>
                      </a:r>
                      <a:r>
                        <a:rPr lang="en-US" sz="3200" dirty="0">
                          <a:effectLst/>
                        </a:rPr>
                        <a:t> </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60764171"/>
                  </a:ext>
                </a:extLst>
              </a:tr>
              <a:tr h="1010587">
                <a:tc>
                  <a:txBody>
                    <a:bodyPr/>
                    <a:lstStyle/>
                    <a:p>
                      <a:pPr algn="just"/>
                      <a:r>
                        <a:rPr lang="en-US" sz="2800" kern="1200" dirty="0">
                          <a:solidFill>
                            <a:schemeClr val="dk1"/>
                          </a:solidFill>
                          <a:effectLst/>
                          <a:latin typeface="Times New Roman" panose="02020603050405020304" pitchFamily="18" charset="0"/>
                          <a:ea typeface="+mn-ea"/>
                          <a:cs typeface="Times New Roman" panose="02020603050405020304" pitchFamily="18" charset="0"/>
                        </a:rPr>
                        <a:t>Random Forest</a:t>
                      </a:r>
                      <a:r>
                        <a:rPr lang="en-US" sz="2800" dirty="0">
                          <a:effectLst/>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79.35</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71.34</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79.35</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72.47</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3368682"/>
                  </a:ext>
                </a:extLst>
              </a:tr>
              <a:tr h="1010587">
                <a:tc>
                  <a:txBody>
                    <a:bodyPr/>
                    <a:lstStyle/>
                    <a:p>
                      <a:r>
                        <a:rPr lang="en-US" sz="2800" b="1" kern="1200" dirty="0">
                          <a:solidFill>
                            <a:schemeClr val="dk1"/>
                          </a:solidFill>
                          <a:effectLst/>
                          <a:latin typeface="Times New Roman" panose="02020603050405020304" pitchFamily="18" charset="0"/>
                          <a:ea typeface="+mn-ea"/>
                          <a:cs typeface="Times New Roman" panose="02020603050405020304" pitchFamily="18" charset="0"/>
                        </a:rPr>
                        <a:t>Logistic Regression</a:t>
                      </a:r>
                      <a:r>
                        <a:rPr lang="en-US" sz="2800" dirty="0">
                          <a:effectLst/>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en-US" sz="3200" b="1" kern="1200" dirty="0">
                          <a:solidFill>
                            <a:schemeClr val="dk1"/>
                          </a:solidFill>
                          <a:effectLst/>
                          <a:latin typeface="Times New Roman" panose="02020603050405020304" pitchFamily="18" charset="0"/>
                          <a:ea typeface="+mn-ea"/>
                          <a:cs typeface="Times New Roman" panose="02020603050405020304" pitchFamily="18" charset="0"/>
                        </a:rPr>
                        <a:t>85.87</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kern="1200" dirty="0">
                          <a:solidFill>
                            <a:schemeClr val="dk1"/>
                          </a:solidFill>
                          <a:effectLst/>
                          <a:latin typeface="Times New Roman" panose="02020603050405020304" pitchFamily="18" charset="0"/>
                          <a:ea typeface="+mn-ea"/>
                          <a:cs typeface="Times New Roman" panose="02020603050405020304" pitchFamily="18" charset="0"/>
                        </a:rPr>
                        <a:t>82.05</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kern="1200" dirty="0">
                          <a:solidFill>
                            <a:schemeClr val="dk1"/>
                          </a:solidFill>
                          <a:effectLst/>
                          <a:latin typeface="Times New Roman" panose="02020603050405020304" pitchFamily="18" charset="0"/>
                          <a:ea typeface="+mn-ea"/>
                          <a:cs typeface="Times New Roman" panose="02020603050405020304" pitchFamily="18" charset="0"/>
                        </a:rPr>
                        <a:t>85.87</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kern="1200" dirty="0">
                          <a:solidFill>
                            <a:schemeClr val="dk1"/>
                          </a:solidFill>
                          <a:effectLst/>
                          <a:latin typeface="Times New Roman" panose="02020603050405020304" pitchFamily="18" charset="0"/>
                          <a:ea typeface="+mn-ea"/>
                          <a:cs typeface="Times New Roman" panose="02020603050405020304" pitchFamily="18" charset="0"/>
                        </a:rPr>
                        <a:t>83.05</a:t>
                      </a:r>
                      <a:r>
                        <a:rPr lang="en-US" dirty="0">
                          <a:effectLst/>
                        </a:rPr>
                        <a:t> </a:t>
                      </a:r>
                      <a:endParaRPr lang="en-US" dirty="0"/>
                    </a:p>
                  </a:txBody>
                  <a:tcPr/>
                </a:tc>
                <a:extLst>
                  <a:ext uri="{0D108BD9-81ED-4DB2-BD59-A6C34878D82A}">
                    <a16:rowId xmlns:a16="http://schemas.microsoft.com/office/drawing/2014/main" val="2307401042"/>
                  </a:ext>
                </a:extLst>
              </a:tr>
              <a:tr h="1010587">
                <a:tc>
                  <a:txBody>
                    <a:bodyPr/>
                    <a:lstStyle/>
                    <a:p>
                      <a:r>
                        <a:rPr lang="en-US" sz="2800" kern="1200" dirty="0">
                          <a:solidFill>
                            <a:schemeClr val="dk1"/>
                          </a:solidFill>
                          <a:effectLst/>
                          <a:latin typeface="Times New Roman" panose="02020603050405020304" pitchFamily="18" charset="0"/>
                          <a:ea typeface="+mn-ea"/>
                          <a:cs typeface="Times New Roman" panose="02020603050405020304" pitchFamily="18" charset="0"/>
                        </a:rPr>
                        <a:t>Gradient Boosting</a:t>
                      </a:r>
                      <a:r>
                        <a:rPr lang="en-US" sz="2800" dirty="0">
                          <a:effectLst/>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80.43</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75.72</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80.43</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tc>
                  <a:txBody>
                    <a:bodyPr/>
                    <a:lstStyle/>
                    <a:p>
                      <a:pPr algn="ctr"/>
                      <a:r>
                        <a:rPr lang="en-US" sz="3200" kern="1200" dirty="0">
                          <a:solidFill>
                            <a:schemeClr val="dk1"/>
                          </a:solidFill>
                          <a:effectLst/>
                          <a:latin typeface="Times New Roman" panose="02020603050405020304" pitchFamily="18" charset="0"/>
                          <a:ea typeface="+mn-ea"/>
                          <a:cs typeface="Times New Roman" panose="02020603050405020304" pitchFamily="18" charset="0"/>
                        </a:rPr>
                        <a:t>76.04</a:t>
                      </a:r>
                      <a:r>
                        <a:rPr lang="en-US" sz="3200" dirty="0">
                          <a:effectLst/>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4864764"/>
                  </a:ext>
                </a:extLst>
              </a:tr>
            </a:tbl>
          </a:graphicData>
        </a:graphic>
      </p:graphicFrame>
      <p:sp>
        <p:nvSpPr>
          <p:cNvPr id="5" name="TextBox 4">
            <a:extLst>
              <a:ext uri="{FF2B5EF4-FFF2-40B4-BE49-F238E27FC236}">
                <a16:creationId xmlns:a16="http://schemas.microsoft.com/office/drawing/2014/main" id="{2D04529E-2017-8B4F-A233-888D94547BFA}"/>
              </a:ext>
            </a:extLst>
          </p:cNvPr>
          <p:cNvSpPr txBox="1"/>
          <p:nvPr/>
        </p:nvSpPr>
        <p:spPr>
          <a:xfrm>
            <a:off x="1436282" y="8591468"/>
            <a:ext cx="15415436" cy="1354217"/>
          </a:xfrm>
          <a:prstGeom prst="rect">
            <a:avLst/>
          </a:prstGeom>
          <a:noFill/>
        </p:spPr>
        <p:txBody>
          <a:bodyPr wrap="square" rtlCol="0">
            <a:spAutoFit/>
          </a:bodyPr>
          <a:lstStyle/>
          <a:p>
            <a:pPr algn="just"/>
            <a:r>
              <a:rPr lang="en-US" sz="3200" b="1" i="1" dirty="0">
                <a:solidFill>
                  <a:schemeClr val="bg1"/>
                </a:solidFill>
                <a:latin typeface="Times New Roman" panose="02020603050405020304" pitchFamily="18" charset="0"/>
                <a:cs typeface="Times New Roman" panose="02020603050405020304" pitchFamily="18" charset="0"/>
              </a:rPr>
              <a:t>Table: Performance summary of the proposed algorithms (accuracy, precision, recall, f1 score</a:t>
            </a:r>
            <a:r>
              <a:rPr lang="en-US" b="1" i="1" dirty="0"/>
              <a:t>)</a:t>
            </a:r>
            <a:endParaRPr lang="en-US" dirty="0"/>
          </a:p>
          <a:p>
            <a:r>
              <a:rPr lang="en-US" b="1" i="1" dirty="0"/>
              <a:t> </a:t>
            </a:r>
            <a:endParaRPr lang="en-US" dirty="0"/>
          </a:p>
        </p:txBody>
      </p:sp>
    </p:spTree>
    <p:extLst>
      <p:ext uri="{BB962C8B-B14F-4D97-AF65-F5344CB8AC3E}">
        <p14:creationId xmlns:p14="http://schemas.microsoft.com/office/powerpoint/2010/main" val="1417772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201900" y="9253463"/>
            <a:ext cx="29718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17</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7755969"/>
          </a:xfrm>
          <a:prstGeom prst="rect">
            <a:avLst/>
          </a:prstGeom>
          <a:noFill/>
        </p:spPr>
        <p:txBody>
          <a:bodyPr wrap="square" rtlCol="0">
            <a:spAutoFit/>
          </a:bodyPr>
          <a:lstStyle/>
          <a:p>
            <a:pPr algn="just"/>
            <a:r>
              <a:rPr lang="en-US" sz="3200" b="1" dirty="0">
                <a:solidFill>
                  <a:schemeClr val="bg1"/>
                </a:solidFill>
                <a:latin typeface="Times New Roman" panose="02020603050405020304" pitchFamily="18" charset="0"/>
                <a:cs typeface="Times New Roman" panose="02020603050405020304" pitchFamily="18" charset="0"/>
              </a:rPr>
              <a:t>Identification of Research Gaps</a:t>
            </a:r>
          </a:p>
          <a:p>
            <a:pPr algn="just"/>
            <a:r>
              <a:rPr lang="en-US" sz="3200" b="1" dirty="0">
                <a:solidFill>
                  <a:schemeClr val="bg1"/>
                </a:solidFill>
                <a:latin typeface="Times New Roman" panose="02020603050405020304" pitchFamily="18" charset="0"/>
                <a:cs typeface="Times New Roman" panose="02020603050405020304" pitchFamily="18" charset="0"/>
              </a:rPr>
              <a:t>Need for Enhanced Precision and Recall</a:t>
            </a:r>
          </a:p>
          <a:p>
            <a:pPr algn="just"/>
            <a:r>
              <a:rPr lang="en-US" sz="3200" b="1" dirty="0">
                <a:solidFill>
                  <a:schemeClr val="bg1"/>
                </a:solidFill>
                <a:latin typeface="Times New Roman" panose="02020603050405020304" pitchFamily="18" charset="0"/>
                <a:cs typeface="Times New Roman" panose="02020603050405020304" pitchFamily="18" charset="0"/>
              </a:rPr>
              <a:t> </a:t>
            </a:r>
            <a:endParaRPr lang="en-US" sz="3200" dirty="0">
              <a:solidFill>
                <a:schemeClr val="bg1"/>
              </a:solidFill>
              <a:latin typeface="Times New Roman" panose="02020603050405020304" pitchFamily="18" charset="0"/>
              <a:cs typeface="Times New Roman" panose="02020603050405020304" pitchFamily="18" charset="0"/>
            </a:endParaRPr>
          </a:p>
          <a:p>
            <a:pPr algn="just"/>
            <a:r>
              <a:rPr lang="en-US" sz="3200" dirty="0">
                <a:solidFill>
                  <a:schemeClr val="bg1"/>
                </a:solidFill>
                <a:latin typeface="Times New Roman" panose="02020603050405020304" pitchFamily="18" charset="0"/>
                <a:cs typeface="Times New Roman" panose="02020603050405020304" pitchFamily="18" charset="0"/>
              </a:rPr>
              <a:t>The comparative analysis pointed out a crucial gap in facial expression recognition systems: the need for improved accuracy and recall. Conventional methods usually prioritize overall accuracy but neglect the balance between precision and recall—which is essential for reliable emotion recognition in practical applications.</a:t>
            </a:r>
          </a:p>
          <a:p>
            <a:pPr algn="just"/>
            <a:br>
              <a:rPr lang="en-US" sz="3200" dirty="0">
                <a:solidFill>
                  <a:schemeClr val="bg1"/>
                </a:solidFill>
                <a:latin typeface="Times New Roman" panose="02020603050405020304" pitchFamily="18" charset="0"/>
                <a:cs typeface="Times New Roman" panose="02020603050405020304" pitchFamily="18" charset="0"/>
              </a:rPr>
            </a:br>
            <a:r>
              <a:rPr lang="en-US" sz="3200" dirty="0">
                <a:solidFill>
                  <a:schemeClr val="bg1"/>
                </a:solidFill>
                <a:latin typeface="Times New Roman" panose="02020603050405020304" pitchFamily="18" charset="0"/>
                <a:cs typeface="Times New Roman" panose="02020603050405020304" pitchFamily="18" charset="0"/>
              </a:rPr>
              <a:t>This study highlights the importance of selecting appropriate models to accommodate the complexity of facial expression data, paving the way for improved human-computer interaction.</a:t>
            </a:r>
          </a:p>
          <a:p>
            <a:pPr algn="just"/>
            <a:r>
              <a:rPr lang="en-US" sz="3200" dirty="0">
                <a:solidFill>
                  <a:schemeClr val="bg1"/>
                </a:solidFill>
                <a:latin typeface="Times New Roman" panose="02020603050405020304" pitchFamily="18" charset="0"/>
                <a:cs typeface="Times New Roman" panose="02020603050405020304" pitchFamily="18" charset="0"/>
              </a:rPr>
              <a:t>In summary, this study not only addresses the limitations of traditional methods, but also makes important contributions to the growing field of emotion recognition technology. It presents an improved method for facial expression recognition, which lays the foundation for future innovations and deeper emotional understanding in human-computer interaction.</a:t>
            </a:r>
          </a:p>
          <a:p>
            <a:r>
              <a:rPr lang="en-US" dirty="0"/>
              <a:t> </a:t>
            </a:r>
          </a:p>
        </p:txBody>
      </p:sp>
    </p:spTree>
    <p:extLst>
      <p:ext uri="{BB962C8B-B14F-4D97-AF65-F5344CB8AC3E}">
        <p14:creationId xmlns:p14="http://schemas.microsoft.com/office/powerpoint/2010/main" val="3969065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925800" y="9692044"/>
            <a:ext cx="29718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18</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4739759"/>
          </a:xfrm>
          <a:prstGeom prst="rect">
            <a:avLst/>
          </a:prstGeom>
          <a:noFill/>
        </p:spPr>
        <p:txBody>
          <a:bodyPr wrap="square" rtlCol="0">
            <a:spAutoFit/>
          </a:bodyPr>
          <a:lstStyle/>
          <a:p>
            <a:pPr algn="ctr"/>
            <a:r>
              <a:rPr lang="en-US" sz="3600" b="1" dirty="0">
                <a:solidFill>
                  <a:schemeClr val="bg1">
                    <a:lumMod val="95000"/>
                  </a:schemeClr>
                </a:solidFill>
                <a:latin typeface="Times New Roman" panose="02020603050405020304" pitchFamily="18" charset="0"/>
                <a:cs typeface="Times New Roman" panose="02020603050405020304" pitchFamily="18" charset="0"/>
              </a:rPr>
              <a:t>Methodology</a:t>
            </a:r>
          </a:p>
          <a:p>
            <a:r>
              <a:rPr lang="en-US" sz="2400" b="1" dirty="0">
                <a:solidFill>
                  <a:schemeClr val="bg1"/>
                </a:solidFill>
                <a:latin typeface="Times New Roman" panose="02020603050405020304" pitchFamily="18" charset="0"/>
                <a:cs typeface="Times New Roman" panose="02020603050405020304" pitchFamily="18" charset="0"/>
              </a:rPr>
              <a:t>Research Design Framework</a:t>
            </a:r>
          </a:p>
          <a:p>
            <a:endParaRPr lang="en-US" sz="2400" b="1" dirty="0">
              <a:solidFill>
                <a:schemeClr val="bg1"/>
              </a:solidFill>
              <a:latin typeface="Times New Roman" panose="02020603050405020304" pitchFamily="18" charset="0"/>
              <a:cs typeface="Times New Roman" panose="02020603050405020304" pitchFamily="18" charset="0"/>
            </a:endParaRPr>
          </a:p>
          <a:p>
            <a:r>
              <a:rPr lang="en-US" sz="2400" dirty="0">
                <a:solidFill>
                  <a:schemeClr val="bg1"/>
                </a:solidFill>
                <a:latin typeface="Times New Roman" panose="02020603050405020304" pitchFamily="18" charset="0"/>
                <a:cs typeface="Times New Roman" panose="02020603050405020304" pitchFamily="18" charset="0"/>
              </a:rPr>
              <a:t>Overview of the Research Paradigm </a:t>
            </a:r>
          </a:p>
          <a:p>
            <a:endParaRPr lang="en-US" sz="2400" b="1" dirty="0">
              <a:solidFill>
                <a:schemeClr val="bg1"/>
              </a:solidFill>
              <a:latin typeface="Times New Roman" panose="02020603050405020304" pitchFamily="18" charset="0"/>
              <a:cs typeface="Times New Roman" panose="02020603050405020304" pitchFamily="18" charset="0"/>
            </a:endParaRPr>
          </a:p>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pic>
        <p:nvPicPr>
          <p:cNvPr id="7" name="Image 11">
            <a:extLst>
              <a:ext uri="{FF2B5EF4-FFF2-40B4-BE49-F238E27FC236}">
                <a16:creationId xmlns:a16="http://schemas.microsoft.com/office/drawing/2014/main" id="{CFD429D3-9115-5548-BB67-1FC481BD5F63}"/>
              </a:ext>
            </a:extLst>
          </p:cNvPr>
          <p:cNvPicPr/>
          <p:nvPr/>
        </p:nvPicPr>
        <p:blipFill>
          <a:blip r:embed="rId2" cstate="print"/>
          <a:stretch>
            <a:fillRect/>
          </a:stretch>
        </p:blipFill>
        <p:spPr>
          <a:xfrm>
            <a:off x="1077432" y="3012799"/>
            <a:ext cx="16524767" cy="5791199"/>
          </a:xfrm>
          <a:prstGeom prst="rect">
            <a:avLst/>
          </a:prstGeom>
        </p:spPr>
      </p:pic>
      <p:sp>
        <p:nvSpPr>
          <p:cNvPr id="4" name="TextBox 3">
            <a:extLst>
              <a:ext uri="{FF2B5EF4-FFF2-40B4-BE49-F238E27FC236}">
                <a16:creationId xmlns:a16="http://schemas.microsoft.com/office/drawing/2014/main" id="{A3B76C44-41A5-1A42-B825-31D4445BD107}"/>
              </a:ext>
            </a:extLst>
          </p:cNvPr>
          <p:cNvSpPr txBox="1"/>
          <p:nvPr/>
        </p:nvSpPr>
        <p:spPr>
          <a:xfrm>
            <a:off x="5867400" y="9196662"/>
            <a:ext cx="9121406" cy="523220"/>
          </a:xfrm>
          <a:prstGeom prst="rect">
            <a:avLst/>
          </a:prstGeom>
          <a:noFill/>
        </p:spPr>
        <p:txBody>
          <a:bodyPr wrap="square" rtlCol="0">
            <a:spAutoFit/>
          </a:bodyPr>
          <a:lstStyle/>
          <a:p>
            <a:r>
              <a:rPr lang="en-US" sz="2800" b="1" i="1" dirty="0">
                <a:solidFill>
                  <a:schemeClr val="bg1"/>
                </a:solidFill>
                <a:latin typeface="Times New Roman" panose="02020603050405020304" pitchFamily="18" charset="0"/>
                <a:cs typeface="Times New Roman" panose="02020603050405020304" pitchFamily="18" charset="0"/>
              </a:rPr>
              <a:t>Figure: Load the Cohen-Candy Dataset</a:t>
            </a:r>
            <a:endParaRPr lang="en-US"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3170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6459200" y="9820907"/>
            <a:ext cx="29718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19</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2708434"/>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pic>
        <p:nvPicPr>
          <p:cNvPr id="8" name="Image 13">
            <a:extLst>
              <a:ext uri="{FF2B5EF4-FFF2-40B4-BE49-F238E27FC236}">
                <a16:creationId xmlns:a16="http://schemas.microsoft.com/office/drawing/2014/main" id="{8AEE9C77-BE02-9544-A8C8-F3E868DE38A2}"/>
              </a:ext>
            </a:extLst>
          </p:cNvPr>
          <p:cNvPicPr/>
          <p:nvPr/>
        </p:nvPicPr>
        <p:blipFill>
          <a:blip r:embed="rId2" cstate="print"/>
          <a:stretch>
            <a:fillRect/>
          </a:stretch>
        </p:blipFill>
        <p:spPr>
          <a:xfrm>
            <a:off x="1098698" y="1247264"/>
            <a:ext cx="17145000" cy="8050648"/>
          </a:xfrm>
          <a:prstGeom prst="rect">
            <a:avLst/>
          </a:prstGeom>
        </p:spPr>
      </p:pic>
    </p:spTree>
    <p:extLst>
      <p:ext uri="{BB962C8B-B14F-4D97-AF65-F5344CB8AC3E}">
        <p14:creationId xmlns:p14="http://schemas.microsoft.com/office/powerpoint/2010/main" val="390040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6230600" y="9767747"/>
            <a:ext cx="29718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20</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2708434"/>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pic>
        <p:nvPicPr>
          <p:cNvPr id="7" name="Image 14">
            <a:extLst>
              <a:ext uri="{FF2B5EF4-FFF2-40B4-BE49-F238E27FC236}">
                <a16:creationId xmlns:a16="http://schemas.microsoft.com/office/drawing/2014/main" id="{CE806EF9-3131-EB45-A58B-055C6FFDBA49}"/>
              </a:ext>
            </a:extLst>
          </p:cNvPr>
          <p:cNvPicPr/>
          <p:nvPr/>
        </p:nvPicPr>
        <p:blipFill>
          <a:blip r:embed="rId2" cstate="print"/>
          <a:stretch>
            <a:fillRect/>
          </a:stretch>
        </p:blipFill>
        <p:spPr>
          <a:xfrm>
            <a:off x="355313" y="320969"/>
            <a:ext cx="17577374" cy="1625909"/>
          </a:xfrm>
          <a:prstGeom prst="rect">
            <a:avLst/>
          </a:prstGeom>
        </p:spPr>
      </p:pic>
      <p:pic>
        <p:nvPicPr>
          <p:cNvPr id="9" name="Image 15">
            <a:extLst>
              <a:ext uri="{FF2B5EF4-FFF2-40B4-BE49-F238E27FC236}">
                <a16:creationId xmlns:a16="http://schemas.microsoft.com/office/drawing/2014/main" id="{53A0FEC8-B661-D849-8613-C3F2A5D300A9}"/>
              </a:ext>
            </a:extLst>
          </p:cNvPr>
          <p:cNvPicPr/>
          <p:nvPr/>
        </p:nvPicPr>
        <p:blipFill>
          <a:blip r:embed="rId3" cstate="print"/>
          <a:stretch>
            <a:fillRect/>
          </a:stretch>
        </p:blipFill>
        <p:spPr>
          <a:xfrm>
            <a:off x="355313" y="2199551"/>
            <a:ext cx="17577374" cy="7053913"/>
          </a:xfrm>
          <a:prstGeom prst="rect">
            <a:avLst/>
          </a:prstGeom>
        </p:spPr>
      </p:pic>
      <p:sp>
        <p:nvSpPr>
          <p:cNvPr id="4" name="TextBox 3">
            <a:extLst>
              <a:ext uri="{FF2B5EF4-FFF2-40B4-BE49-F238E27FC236}">
                <a16:creationId xmlns:a16="http://schemas.microsoft.com/office/drawing/2014/main" id="{BE69A7DC-8524-7D42-80E7-39FDFF07E3D9}"/>
              </a:ext>
            </a:extLst>
          </p:cNvPr>
          <p:cNvSpPr txBox="1"/>
          <p:nvPr/>
        </p:nvSpPr>
        <p:spPr>
          <a:xfrm>
            <a:off x="6705600" y="9506137"/>
            <a:ext cx="5562600" cy="523220"/>
          </a:xfrm>
          <a:prstGeom prst="rect">
            <a:avLst/>
          </a:prstGeom>
          <a:noFill/>
        </p:spPr>
        <p:txBody>
          <a:bodyPr wrap="square" rtlCol="0">
            <a:spAutoFit/>
          </a:bodyPr>
          <a:lstStyle/>
          <a:p>
            <a:r>
              <a:rPr lang="en-US" sz="2800" b="1" i="1" dirty="0">
                <a:solidFill>
                  <a:schemeClr val="bg1"/>
                </a:solidFill>
                <a:latin typeface="Times New Roman" panose="02020603050405020304" pitchFamily="18" charset="0"/>
                <a:cs typeface="Times New Roman" panose="02020603050405020304" pitchFamily="18" charset="0"/>
              </a:rPr>
              <a:t>Figure: Preprocess the Images</a:t>
            </a:r>
            <a:endParaRPr lang="en-US"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365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49600" y="9486900"/>
            <a:ext cx="29718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21</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2708434"/>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509200"/>
          </a:xfrm>
          <a:prstGeom prst="rect">
            <a:avLst/>
          </a:prstGeom>
          <a:noFill/>
        </p:spPr>
        <p:txBody>
          <a:bodyPr wrap="square" rtlCol="0">
            <a:spAutoFit/>
          </a:bodyPr>
          <a:lstStyle/>
          <a:p>
            <a:pPr algn="just"/>
            <a:r>
              <a:rPr lang="en-US" sz="3200" b="1" dirty="0">
                <a:solidFill>
                  <a:schemeClr val="bg1"/>
                </a:solidFill>
                <a:latin typeface="Times New Roman" panose="02020603050405020304" pitchFamily="18" charset="0"/>
                <a:cs typeface="Times New Roman" panose="02020603050405020304" pitchFamily="18" charset="0"/>
              </a:rPr>
              <a:t>Proposed Methodological Innovations</a:t>
            </a:r>
          </a:p>
          <a:p>
            <a:pPr algn="just"/>
            <a:endParaRPr lang="en-US" sz="3200" b="1" dirty="0">
              <a:solidFill>
                <a:schemeClr val="bg1"/>
              </a:solidFill>
              <a:latin typeface="Times New Roman" panose="02020603050405020304" pitchFamily="18" charset="0"/>
              <a:cs typeface="Times New Roman" panose="02020603050405020304" pitchFamily="18" charset="0"/>
            </a:endParaRPr>
          </a:p>
          <a:p>
            <a:pPr algn="just"/>
            <a:r>
              <a:rPr lang="en-US" sz="3200" dirty="0">
                <a:solidFill>
                  <a:schemeClr val="bg1"/>
                </a:solidFill>
                <a:latin typeface="Times New Roman" panose="02020603050405020304" pitchFamily="18" charset="0"/>
                <a:cs typeface="Times New Roman" panose="02020603050405020304" pitchFamily="18" charset="0"/>
              </a:rPr>
              <a:t>1</a:t>
            </a:r>
            <a:r>
              <a:rPr lang="en-US" sz="3200" dirty="0">
                <a:solidFill>
                  <a:schemeClr val="bg1">
                    <a:lumMod val="95000"/>
                  </a:schemeClr>
                </a:solidFill>
                <a:latin typeface="Times New Roman" panose="02020603050405020304" pitchFamily="18" charset="0"/>
                <a:cs typeface="Times New Roman" panose="02020603050405020304" pitchFamily="18" charset="0"/>
              </a:rPr>
              <a:t>.Detailed Explanation of Cosine-Based Local Transitional Patterns</a:t>
            </a:r>
          </a:p>
          <a:p>
            <a:pPr algn="just"/>
            <a:endParaRPr lang="en-US" sz="3200" dirty="0">
              <a:solidFill>
                <a:schemeClr val="bg1"/>
              </a:solidFill>
              <a:latin typeface="Times New Roman" panose="02020603050405020304" pitchFamily="18" charset="0"/>
              <a:cs typeface="Times New Roman" panose="02020603050405020304" pitchFamily="18" charset="0"/>
            </a:endParaRPr>
          </a:p>
          <a:p>
            <a:pPr lvl="0" algn="just"/>
            <a:r>
              <a:rPr lang="en-US" sz="3200" dirty="0">
                <a:solidFill>
                  <a:schemeClr val="bg1"/>
                </a:solidFill>
                <a:latin typeface="Times New Roman" panose="02020603050405020304" pitchFamily="18" charset="0"/>
                <a:cs typeface="Times New Roman" panose="02020603050405020304" pitchFamily="18" charset="0"/>
              </a:rPr>
              <a:t>2.Dynamic Radius Adjustment Techniques</a:t>
            </a:r>
          </a:p>
          <a:p>
            <a:pPr lvl="0" algn="just"/>
            <a:endParaRPr lang="en-US" sz="3200" dirty="0">
              <a:solidFill>
                <a:schemeClr val="bg1"/>
              </a:solidFill>
              <a:latin typeface="Times New Roman" panose="02020603050405020304" pitchFamily="18" charset="0"/>
              <a:cs typeface="Times New Roman" panose="02020603050405020304" pitchFamily="18" charset="0"/>
            </a:endParaRPr>
          </a:p>
          <a:p>
            <a:pPr algn="just"/>
            <a:r>
              <a:rPr lang="en-US" sz="3200" b="1" dirty="0">
                <a:solidFill>
                  <a:schemeClr val="bg1"/>
                </a:solidFill>
                <a:latin typeface="Times New Roman" panose="02020603050405020304" pitchFamily="18" charset="0"/>
                <a:cs typeface="Times New Roman" panose="02020603050405020304" pitchFamily="18" charset="0"/>
              </a:rPr>
              <a:t>Cosine similarity </a:t>
            </a:r>
            <a:r>
              <a:rPr lang="en-US" sz="3200" dirty="0">
                <a:solidFill>
                  <a:schemeClr val="bg1"/>
                </a:solidFill>
                <a:latin typeface="Times New Roman" panose="02020603050405020304" pitchFamily="18" charset="0"/>
                <a:cs typeface="Times New Roman" panose="02020603050405020304" pitchFamily="18" charset="0"/>
              </a:rPr>
              <a:t>measures the similarity between two vectors and this can be useful how alike different facial expressions features are.</a:t>
            </a:r>
          </a:p>
          <a:p>
            <a:pPr algn="just"/>
            <a:endParaRPr lang="en-US" sz="3200" dirty="0">
              <a:solidFill>
                <a:schemeClr val="bg1"/>
              </a:solidFill>
              <a:latin typeface="Times New Roman" panose="02020603050405020304" pitchFamily="18" charset="0"/>
              <a:cs typeface="Times New Roman" panose="02020603050405020304" pitchFamily="18" charset="0"/>
            </a:endParaRPr>
          </a:p>
          <a:p>
            <a:pPr algn="just"/>
            <a:r>
              <a:rPr lang="en-US" sz="3200" b="1" dirty="0">
                <a:solidFill>
                  <a:schemeClr val="bg1"/>
                </a:solidFill>
                <a:latin typeface="Times New Roman" panose="02020603050405020304" pitchFamily="18" charset="0"/>
                <a:cs typeface="Times New Roman" panose="02020603050405020304" pitchFamily="18" charset="0"/>
              </a:rPr>
              <a:t>Dynamic Radius adjustment </a:t>
            </a:r>
            <a:r>
              <a:rPr lang="en-US" sz="3200" dirty="0">
                <a:solidFill>
                  <a:schemeClr val="bg1"/>
                </a:solidFill>
                <a:latin typeface="Times New Roman" panose="02020603050405020304" pitchFamily="18" charset="0"/>
                <a:cs typeface="Times New Roman" panose="02020603050405020304" pitchFamily="18" charset="0"/>
              </a:rPr>
              <a:t>sets a radius based on the variance in features And helping to tune the sensitivity of the model to variations in expression </a:t>
            </a:r>
          </a:p>
        </p:txBody>
      </p:sp>
    </p:spTree>
    <p:extLst>
      <p:ext uri="{BB962C8B-B14F-4D97-AF65-F5344CB8AC3E}">
        <p14:creationId xmlns:p14="http://schemas.microsoft.com/office/powerpoint/2010/main" val="2526846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6154400" y="9750675"/>
            <a:ext cx="29718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22</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2708434"/>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pic>
        <p:nvPicPr>
          <p:cNvPr id="7" name="Image 17">
            <a:extLst>
              <a:ext uri="{FF2B5EF4-FFF2-40B4-BE49-F238E27FC236}">
                <a16:creationId xmlns:a16="http://schemas.microsoft.com/office/drawing/2014/main" id="{5EE46C6D-BBEB-FA41-81AF-0A0090461587}"/>
              </a:ext>
            </a:extLst>
          </p:cNvPr>
          <p:cNvPicPr/>
          <p:nvPr/>
        </p:nvPicPr>
        <p:blipFill>
          <a:blip r:embed="rId2" cstate="print"/>
          <a:stretch>
            <a:fillRect/>
          </a:stretch>
        </p:blipFill>
        <p:spPr>
          <a:xfrm>
            <a:off x="1100471" y="800100"/>
            <a:ext cx="16730330" cy="8221386"/>
          </a:xfrm>
          <a:prstGeom prst="rect">
            <a:avLst/>
          </a:prstGeom>
        </p:spPr>
      </p:pic>
      <p:sp>
        <p:nvSpPr>
          <p:cNvPr id="4" name="TextBox 3">
            <a:extLst>
              <a:ext uri="{FF2B5EF4-FFF2-40B4-BE49-F238E27FC236}">
                <a16:creationId xmlns:a16="http://schemas.microsoft.com/office/drawing/2014/main" id="{44B4CCA0-3E60-3442-8C68-D7201CD4E05D}"/>
              </a:ext>
            </a:extLst>
          </p:cNvPr>
          <p:cNvSpPr txBox="1"/>
          <p:nvPr/>
        </p:nvSpPr>
        <p:spPr>
          <a:xfrm>
            <a:off x="5943600" y="9349124"/>
            <a:ext cx="7620000" cy="461665"/>
          </a:xfrm>
          <a:prstGeom prst="rect">
            <a:avLst/>
          </a:prstGeom>
          <a:noFill/>
        </p:spPr>
        <p:txBody>
          <a:bodyPr wrap="square" rtlCol="0">
            <a:spAutoFit/>
          </a:bodyPr>
          <a:lstStyle/>
          <a:p>
            <a:r>
              <a:rPr lang="en-US" sz="2400" b="1" i="1" dirty="0">
                <a:solidFill>
                  <a:schemeClr val="bg1"/>
                </a:solidFill>
                <a:latin typeface="Times New Roman" panose="02020603050405020304" pitchFamily="18" charset="0"/>
                <a:cs typeface="Times New Roman" panose="02020603050405020304" pitchFamily="18" charset="0"/>
              </a:rPr>
              <a:t>Figure: Feature Extraction Using Cosine Similarity</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6031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287847" y="8939656"/>
            <a:ext cx="29718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23</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2708434"/>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4D73023-B867-BB4B-B5D0-388EB09F0D8E}"/>
              </a:ext>
            </a:extLst>
          </p:cNvPr>
          <p:cNvSpPr txBox="1"/>
          <p:nvPr/>
        </p:nvSpPr>
        <p:spPr>
          <a:xfrm>
            <a:off x="0" y="867552"/>
            <a:ext cx="16687800" cy="1384995"/>
          </a:xfrm>
          <a:prstGeom prst="rect">
            <a:avLst/>
          </a:prstGeom>
          <a:noFill/>
        </p:spPr>
        <p:txBody>
          <a:bodyPr wrap="square" rtlCol="0">
            <a:spAutoFit/>
          </a:bodyPr>
          <a:lstStyle/>
          <a:p>
            <a:pPr lvl="1"/>
            <a:r>
              <a:rPr lang="en-US" sz="2800" b="1" dirty="0">
                <a:solidFill>
                  <a:schemeClr val="bg1"/>
                </a:solidFill>
                <a:latin typeface="Times New Roman" panose="02020603050405020304" pitchFamily="18" charset="0"/>
                <a:cs typeface="Times New Roman" panose="02020603050405020304" pitchFamily="18" charset="0"/>
              </a:rPr>
              <a:t>Selection of Machine Learning Algorithms</a:t>
            </a:r>
          </a:p>
          <a:p>
            <a:pPr lvl="1"/>
            <a:endParaRPr lang="en-US" sz="2800" b="1" dirty="0">
              <a:solidFill>
                <a:schemeClr val="bg1"/>
              </a:solidFill>
              <a:latin typeface="Times New Roman" panose="02020603050405020304" pitchFamily="18" charset="0"/>
              <a:cs typeface="Times New Roman" panose="02020603050405020304" pitchFamily="18" charset="0"/>
            </a:endParaRPr>
          </a:p>
          <a:p>
            <a:pPr lvl="1"/>
            <a:endParaRPr lang="en-US" sz="2800" b="1" dirty="0">
              <a:solidFill>
                <a:schemeClr val="bg1"/>
              </a:solidFill>
              <a:latin typeface="Times New Roman" panose="02020603050405020304" pitchFamily="18" charset="0"/>
              <a:cs typeface="Times New Roman" panose="02020603050405020304" pitchFamily="18" charset="0"/>
            </a:endParaRPr>
          </a:p>
        </p:txBody>
      </p:sp>
      <p:pic>
        <p:nvPicPr>
          <p:cNvPr id="11" name="Image 18">
            <a:extLst>
              <a:ext uri="{FF2B5EF4-FFF2-40B4-BE49-F238E27FC236}">
                <a16:creationId xmlns:a16="http://schemas.microsoft.com/office/drawing/2014/main" id="{9FE00ABB-8DA2-2B49-AE5D-706D49695026}"/>
              </a:ext>
            </a:extLst>
          </p:cNvPr>
          <p:cNvPicPr/>
          <p:nvPr/>
        </p:nvPicPr>
        <p:blipFill>
          <a:blip r:embed="rId2" cstate="print"/>
          <a:stretch>
            <a:fillRect/>
          </a:stretch>
        </p:blipFill>
        <p:spPr>
          <a:xfrm>
            <a:off x="408468" y="1722740"/>
            <a:ext cx="16476034" cy="4411360"/>
          </a:xfrm>
          <a:prstGeom prst="rect">
            <a:avLst/>
          </a:prstGeom>
        </p:spPr>
      </p:pic>
    </p:spTree>
    <p:extLst>
      <p:ext uri="{BB962C8B-B14F-4D97-AF65-F5344CB8AC3E}">
        <p14:creationId xmlns:p14="http://schemas.microsoft.com/office/powerpoint/2010/main" val="1391482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534167" y="9867900"/>
            <a:ext cx="3221666"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24</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2708434"/>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pic>
        <p:nvPicPr>
          <p:cNvPr id="9" name="Image 19">
            <a:extLst>
              <a:ext uri="{FF2B5EF4-FFF2-40B4-BE49-F238E27FC236}">
                <a16:creationId xmlns:a16="http://schemas.microsoft.com/office/drawing/2014/main" id="{1CACE22C-E505-A148-A307-E84C6AD79613}"/>
              </a:ext>
            </a:extLst>
          </p:cNvPr>
          <p:cNvPicPr/>
          <p:nvPr/>
        </p:nvPicPr>
        <p:blipFill>
          <a:blip r:embed="rId3" cstate="print"/>
          <a:stretch>
            <a:fillRect/>
          </a:stretch>
        </p:blipFill>
        <p:spPr>
          <a:xfrm>
            <a:off x="457200" y="419100"/>
            <a:ext cx="16687800" cy="9067800"/>
          </a:xfrm>
          <a:prstGeom prst="rect">
            <a:avLst/>
          </a:prstGeom>
        </p:spPr>
      </p:pic>
      <p:sp>
        <p:nvSpPr>
          <p:cNvPr id="4" name="TextBox 3">
            <a:extLst>
              <a:ext uri="{FF2B5EF4-FFF2-40B4-BE49-F238E27FC236}">
                <a16:creationId xmlns:a16="http://schemas.microsoft.com/office/drawing/2014/main" id="{6B4D53FA-26C7-4B4C-9073-B8001B473F7E}"/>
              </a:ext>
            </a:extLst>
          </p:cNvPr>
          <p:cNvSpPr txBox="1"/>
          <p:nvPr/>
        </p:nvSpPr>
        <p:spPr>
          <a:xfrm>
            <a:off x="6096000" y="9639299"/>
            <a:ext cx="7239000" cy="461665"/>
          </a:xfrm>
          <a:prstGeom prst="rect">
            <a:avLst/>
          </a:prstGeom>
          <a:noFill/>
        </p:spPr>
        <p:txBody>
          <a:bodyPr wrap="square" rtlCol="0">
            <a:spAutoFit/>
          </a:bodyPr>
          <a:lstStyle/>
          <a:p>
            <a:r>
              <a:rPr lang="en-US" sz="2400" b="1" i="1" dirty="0">
                <a:solidFill>
                  <a:schemeClr val="bg1">
                    <a:lumMod val="95000"/>
                  </a:schemeClr>
                </a:solidFill>
                <a:latin typeface="Times New Roman" panose="02020603050405020304" pitchFamily="18" charset="0"/>
                <a:cs typeface="Times New Roman" panose="02020603050405020304" pitchFamily="18" charset="0"/>
              </a:rPr>
              <a:t>Figure: Train-Test Split and Train Multiple Models</a:t>
            </a:r>
            <a:endParaRPr lang="en-US" sz="24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4887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6154400" y="9597121"/>
            <a:ext cx="29718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25</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2708434"/>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AE62FE8-AC23-514C-AC4A-C5665F71F379}"/>
              </a:ext>
            </a:extLst>
          </p:cNvPr>
          <p:cNvSpPr txBox="1"/>
          <p:nvPr/>
        </p:nvSpPr>
        <p:spPr>
          <a:xfrm>
            <a:off x="1143000" y="743104"/>
            <a:ext cx="16687800" cy="8586966"/>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Data Collection and Preprocessing</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lvl="0" algn="just"/>
            <a:r>
              <a:rPr lang="en-US" sz="2400" dirty="0">
                <a:solidFill>
                  <a:schemeClr val="bg1"/>
                </a:solidFill>
                <a:latin typeface="Times New Roman" panose="02020603050405020304" pitchFamily="18" charset="0"/>
                <a:cs typeface="Times New Roman" panose="02020603050405020304" pitchFamily="18" charset="0"/>
              </a:rPr>
              <a:t>1.Sources and Nature of Data</a:t>
            </a:r>
          </a:p>
          <a:p>
            <a:pPr lvl="0" algn="just"/>
            <a:endParaRPr lang="en-US" sz="2400" dirty="0">
              <a:solidFill>
                <a:schemeClr val="bg1"/>
              </a:solidFill>
              <a:latin typeface="Times New Roman" panose="02020603050405020304" pitchFamily="18" charset="0"/>
              <a:cs typeface="Times New Roman" panose="02020603050405020304" pitchFamily="18" charset="0"/>
            </a:endParaRPr>
          </a:p>
          <a:p>
            <a:pPr lvl="0" algn="just"/>
            <a:r>
              <a:rPr lang="en-US" sz="2400" dirty="0">
                <a:solidFill>
                  <a:schemeClr val="bg1"/>
                </a:solidFill>
                <a:latin typeface="Times New Roman" panose="02020603050405020304" pitchFamily="18" charset="0"/>
                <a:cs typeface="Times New Roman" panose="02020603050405020304" pitchFamily="18" charset="0"/>
              </a:rPr>
              <a:t>2.Data Preprocessing Techniques</a:t>
            </a:r>
          </a:p>
          <a:p>
            <a:pPr algn="just"/>
            <a:r>
              <a:rPr lang="en-US" sz="2400" dirty="0">
                <a:solidFill>
                  <a:schemeClr val="bg1"/>
                </a:solidFill>
                <a:latin typeface="Times New Roman" panose="02020603050405020304" pitchFamily="18" charset="0"/>
                <a:cs typeface="Times New Roman" panose="02020603050405020304" pitchFamily="18" charset="0"/>
              </a:rPr>
              <a:t> </a:t>
            </a:r>
          </a:p>
          <a:p>
            <a:pPr algn="just"/>
            <a:r>
              <a:rPr lang="en-US" sz="2400" b="1" dirty="0">
                <a:solidFill>
                  <a:schemeClr val="bg1"/>
                </a:solidFill>
                <a:latin typeface="Times New Roman" panose="02020603050405020304" pitchFamily="18" charset="0"/>
                <a:cs typeface="Times New Roman" panose="02020603050405020304" pitchFamily="18" charset="0"/>
              </a:rPr>
              <a:t>Data Sources and Types</a:t>
            </a:r>
          </a:p>
          <a:p>
            <a:pPr algn="just"/>
            <a:r>
              <a:rPr lang="en-US" sz="2400" dirty="0">
                <a:solidFill>
                  <a:schemeClr val="bg1"/>
                </a:solidFill>
                <a:latin typeface="Times New Roman" panose="02020603050405020304" pitchFamily="18" charset="0"/>
                <a:cs typeface="Times New Roman" panose="02020603050405020304" pitchFamily="18" charset="0"/>
              </a:rPr>
              <a:t>The </a:t>
            </a:r>
            <a:r>
              <a:rPr lang="en-US" sz="2400" b="1" dirty="0">
                <a:solidFill>
                  <a:schemeClr val="bg1"/>
                </a:solidFill>
                <a:latin typeface="Times New Roman" panose="02020603050405020304" pitchFamily="18" charset="0"/>
                <a:cs typeface="Times New Roman" panose="02020603050405020304" pitchFamily="18" charset="0"/>
              </a:rPr>
              <a:t>CK+ Extended dataset</a:t>
            </a:r>
            <a:r>
              <a:rPr lang="en-US" sz="2400" dirty="0">
                <a:solidFill>
                  <a:schemeClr val="bg1"/>
                </a:solidFill>
                <a:latin typeface="Times New Roman" panose="02020603050405020304" pitchFamily="18" charset="0"/>
                <a:cs typeface="Times New Roman" panose="02020603050405020304" pitchFamily="18" charset="0"/>
              </a:rPr>
              <a:t>, Sourced from </a:t>
            </a:r>
            <a:r>
              <a:rPr lang="en-US" sz="2400" b="1" dirty="0">
                <a:solidFill>
                  <a:schemeClr val="bg1"/>
                </a:solidFill>
                <a:latin typeface="Times New Roman" panose="02020603050405020304" pitchFamily="18" charset="0"/>
                <a:cs typeface="Times New Roman" panose="02020603050405020304" pitchFamily="18" charset="0"/>
              </a:rPr>
              <a:t>Kaggle</a:t>
            </a:r>
            <a:r>
              <a:rPr lang="en-US" sz="2400" dirty="0">
                <a:solidFill>
                  <a:schemeClr val="bg1"/>
                </a:solidFill>
                <a:latin typeface="Times New Roman" panose="02020603050405020304" pitchFamily="18" charset="0"/>
                <a:cs typeface="Times New Roman" panose="02020603050405020304" pitchFamily="18" charset="0"/>
              </a:rPr>
              <a:t>, which includes 593 photos that depict a range of human emotions, was used for this investigation. This dataset offers a wealth of labelled facial expressions for research and is well recognized in the emotional computing community. The following emotions are included in the dataset, and each one has a unique numerical label:</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0: Anger</a:t>
            </a:r>
          </a:p>
          <a:p>
            <a:pPr algn="just"/>
            <a:r>
              <a:rPr lang="en-US" sz="2400" dirty="0">
                <a:solidFill>
                  <a:schemeClr val="bg1"/>
                </a:solidFill>
                <a:latin typeface="Times New Roman" panose="02020603050405020304" pitchFamily="18" charset="0"/>
                <a:cs typeface="Times New Roman" panose="02020603050405020304" pitchFamily="18" charset="0"/>
              </a:rPr>
              <a:t>1: Disgust</a:t>
            </a:r>
          </a:p>
          <a:p>
            <a:pPr algn="just"/>
            <a:r>
              <a:rPr lang="en-US" sz="2400" dirty="0">
                <a:solidFill>
                  <a:schemeClr val="bg1"/>
                </a:solidFill>
                <a:latin typeface="Times New Roman" panose="02020603050405020304" pitchFamily="18" charset="0"/>
                <a:cs typeface="Times New Roman" panose="02020603050405020304" pitchFamily="18" charset="0"/>
              </a:rPr>
              <a:t>2: Fear</a:t>
            </a:r>
          </a:p>
          <a:p>
            <a:pPr algn="just"/>
            <a:r>
              <a:rPr lang="en-US" sz="2400" dirty="0">
                <a:solidFill>
                  <a:schemeClr val="bg1"/>
                </a:solidFill>
                <a:latin typeface="Times New Roman" panose="02020603050405020304" pitchFamily="18" charset="0"/>
                <a:cs typeface="Times New Roman" panose="02020603050405020304" pitchFamily="18" charset="0"/>
              </a:rPr>
              <a:t>3: Happiness</a:t>
            </a:r>
          </a:p>
          <a:p>
            <a:pPr algn="just"/>
            <a:r>
              <a:rPr lang="en-US" sz="2400" dirty="0">
                <a:solidFill>
                  <a:schemeClr val="bg1"/>
                </a:solidFill>
                <a:latin typeface="Times New Roman" panose="02020603050405020304" pitchFamily="18" charset="0"/>
                <a:cs typeface="Times New Roman" panose="02020603050405020304" pitchFamily="18" charset="0"/>
              </a:rPr>
              <a:t>4: Sadness</a:t>
            </a:r>
          </a:p>
          <a:p>
            <a:pPr algn="just"/>
            <a:r>
              <a:rPr lang="en-US" sz="2400" dirty="0">
                <a:solidFill>
                  <a:schemeClr val="bg1"/>
                </a:solidFill>
                <a:latin typeface="Times New Roman" panose="02020603050405020304" pitchFamily="18" charset="0"/>
                <a:cs typeface="Times New Roman" panose="02020603050405020304" pitchFamily="18" charset="0"/>
              </a:rPr>
              <a:t>5: Surprise</a:t>
            </a:r>
          </a:p>
          <a:p>
            <a:pPr algn="just"/>
            <a:r>
              <a:rPr lang="en-US" sz="2400" dirty="0">
                <a:solidFill>
                  <a:schemeClr val="bg1"/>
                </a:solidFill>
                <a:latin typeface="Times New Roman" panose="02020603050405020304" pitchFamily="18" charset="0"/>
                <a:cs typeface="Times New Roman" panose="02020603050405020304" pitchFamily="18" charset="0"/>
              </a:rPr>
              <a:t>6: Neutral</a:t>
            </a:r>
          </a:p>
          <a:p>
            <a:pPr algn="just"/>
            <a:r>
              <a:rPr lang="en-US" sz="2400" dirty="0">
                <a:solidFill>
                  <a:schemeClr val="bg1"/>
                </a:solidFill>
                <a:latin typeface="Times New Roman" panose="02020603050405020304" pitchFamily="18" charset="0"/>
                <a:cs typeface="Times New Roman" panose="02020603050405020304" pitchFamily="18" charset="0"/>
              </a:rPr>
              <a:t>7: Contempt</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Because each image is 48x48 pixels and has 2304 pixels, it is possible to examine face features in great depth. The dataset was split into three sets—80% for training, 10% for public testing, and 10% for private testing—to enable efficient model training and evaluation. This ensured that all emotion categories were fairly represented.</a:t>
            </a:r>
          </a:p>
        </p:txBody>
      </p:sp>
    </p:spTree>
    <p:extLst>
      <p:ext uri="{BB962C8B-B14F-4D97-AF65-F5344CB8AC3E}">
        <p14:creationId xmlns:p14="http://schemas.microsoft.com/office/powerpoint/2010/main" val="3340563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6032126" y="982533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26</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F174B1-9779-4F4C-BBA6-734F8E88E1C4}"/>
              </a:ext>
            </a:extLst>
          </p:cNvPr>
          <p:cNvSpPr txBox="1"/>
          <p:nvPr/>
        </p:nvSpPr>
        <p:spPr>
          <a:xfrm>
            <a:off x="1100470" y="989088"/>
            <a:ext cx="15790234" cy="2708434"/>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endParaRPr lang="en-US" sz="3200" b="1" dirty="0">
              <a:solidFill>
                <a:schemeClr val="bg1"/>
              </a:solidFill>
              <a:latin typeface="Times New Roman" panose="02020603050405020304" pitchFamily="18" charset="0"/>
              <a:cs typeface="Times New Roman" panose="02020603050405020304" pitchFamily="18" charset="0"/>
            </a:endParaRPr>
          </a:p>
          <a:p>
            <a:pPr lvl="0" algn="ctr"/>
            <a:r>
              <a:rPr lang="en-US" b="1" dirty="0"/>
              <a:t>y</a:t>
            </a: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AE62FE8-AC23-514C-AC4A-C5665F71F379}"/>
              </a:ext>
            </a:extLst>
          </p:cNvPr>
          <p:cNvSpPr txBox="1"/>
          <p:nvPr/>
        </p:nvSpPr>
        <p:spPr>
          <a:xfrm>
            <a:off x="1143000" y="-22526"/>
            <a:ext cx="16687800" cy="6740307"/>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Methods of Data Preprocessing</a:t>
            </a:r>
          </a:p>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Several preprocessing methods were used in order to get the dataset ready for analysis:</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Image Resizing</a:t>
            </a:r>
            <a:r>
              <a:rPr lang="en-US" sz="2400" dirty="0">
                <a:solidFill>
                  <a:schemeClr val="bg1"/>
                </a:solidFill>
                <a:latin typeface="Times New Roman" panose="02020603050405020304" pitchFamily="18" charset="0"/>
                <a:cs typeface="Times New Roman" panose="02020603050405020304" pitchFamily="18" charset="0"/>
              </a:rPr>
              <a:t>: Every image was resized to 48 by 48 pixels, which is the normal size. By ensuring consistency throughout the dataset, this phase made it easier for machine learning models to process and analyze the data effectively.</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Normalization</a:t>
            </a:r>
            <a:r>
              <a:rPr lang="en-US" sz="2400" dirty="0">
                <a:solidFill>
                  <a:schemeClr val="bg1"/>
                </a:solidFill>
                <a:latin typeface="Times New Roman" panose="02020603050405020304" pitchFamily="18" charset="0"/>
                <a:cs typeface="Times New Roman" panose="02020603050405020304" pitchFamily="18" charset="0"/>
              </a:rPr>
              <a:t>: The values of pixels were adjusted to fall between 0 and 1. In order to improve the convergence of machine learning algorithms during training and enable more efficient learning from the input data, this normalization procedure is essential.</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Greyscale Conversion</a:t>
            </a:r>
            <a:r>
              <a:rPr lang="en-US" sz="2400" dirty="0">
                <a:solidFill>
                  <a:schemeClr val="bg1"/>
                </a:solidFill>
                <a:latin typeface="Times New Roman" panose="02020603050405020304" pitchFamily="18" charset="0"/>
                <a:cs typeface="Times New Roman" panose="02020603050405020304" pitchFamily="18" charset="0"/>
              </a:rPr>
              <a:t>: To reduce computational complexity and highlight the key aspects of face expressions, the photos were converted to greyscale. This simplicity makes it easier for models to concentrate on the intensity of characteristics that are important for identifying emotions.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76030E9-7C79-B641-AA3F-FE2E498B5DDE}"/>
              </a:ext>
            </a:extLst>
          </p:cNvPr>
          <p:cNvSpPr txBox="1"/>
          <p:nvPr/>
        </p:nvSpPr>
        <p:spPr>
          <a:xfrm>
            <a:off x="1143000" y="4831378"/>
            <a:ext cx="16535400" cy="5170646"/>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Data Augmentation</a:t>
            </a:r>
            <a:r>
              <a:rPr lang="en-US" sz="2400" dirty="0">
                <a:solidFill>
                  <a:schemeClr val="bg1"/>
                </a:solidFill>
                <a:latin typeface="Times New Roman" panose="02020603050405020304" pitchFamily="18" charset="0"/>
                <a:cs typeface="Times New Roman" panose="02020603050405020304" pitchFamily="18" charset="0"/>
              </a:rPr>
              <a:t>: A variety of data augmentation approaches were used to increase the training dataset's diversity and strengthen the model's resilience. These featured modest magnification, horizontal flipping, and random rotations to mimic various viewing angles and face expressions.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Label Encoding</a:t>
            </a:r>
            <a:r>
              <a:rPr lang="en-US" sz="2400" dirty="0">
                <a:solidFill>
                  <a:schemeClr val="bg1"/>
                </a:solidFill>
                <a:latin typeface="Times New Roman" panose="02020603050405020304" pitchFamily="18" charset="0"/>
                <a:cs typeface="Times New Roman" panose="02020603050405020304" pitchFamily="18" charset="0"/>
              </a:rPr>
              <a:t>: Each facial expression was assigned a numerical label that matched the category of emotion it belonged to. In order to integrate the data into machine learning frameworks and enable effective model training, this encoding is necessary.</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Data Splitting</a:t>
            </a:r>
            <a:r>
              <a:rPr lang="en-US" sz="2400" dirty="0">
                <a:solidFill>
                  <a:schemeClr val="bg1"/>
                </a:solidFill>
                <a:latin typeface="Times New Roman" panose="02020603050405020304" pitchFamily="18" charset="0"/>
                <a:cs typeface="Times New Roman" panose="02020603050405020304" pitchFamily="18" charset="0"/>
              </a:rPr>
              <a:t>: The dataset was meticulously separated into private test, public test, and training sets according to predetermined ratios. By ensuring that each subset included a representative distribution of all emotion classes, this stratified splitting made it possible to evaluate the model's performance with accuracy.</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Managing Missing or Noisy Data</a:t>
            </a:r>
            <a:r>
              <a:rPr lang="en-US" sz="2400" dirty="0">
                <a:solidFill>
                  <a:schemeClr val="bg1"/>
                </a:solidFill>
                <a:latin typeface="Times New Roman" panose="02020603050405020304" pitchFamily="18" charset="0"/>
                <a:cs typeface="Times New Roman" panose="02020603050405020304" pitchFamily="18" charset="0"/>
              </a:rPr>
              <a:t>: The dataset was cleansed of any photos that were either missing information or showed a lot of noise. In order to guarantee the quality and integrity of the data utilized for model evaluation and training, this step was essential.</a:t>
            </a:r>
          </a:p>
          <a:p>
            <a:pPr algn="just"/>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63504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6032126" y="982533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27</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9432978-2C9D-2849-9B1E-AA30F2F4E23D}"/>
              </a:ext>
            </a:extLst>
          </p:cNvPr>
          <p:cNvSpPr txBox="1"/>
          <p:nvPr/>
        </p:nvSpPr>
        <p:spPr>
          <a:xfrm>
            <a:off x="1008321" y="130373"/>
            <a:ext cx="16687800" cy="9694962"/>
          </a:xfrm>
          <a:prstGeom prst="rect">
            <a:avLst/>
          </a:prstGeom>
          <a:noFill/>
        </p:spPr>
        <p:txBody>
          <a:bodyPr wrap="square" rtlCol="0">
            <a:spAutoFit/>
          </a:bodyPr>
          <a:lstStyle/>
          <a:p>
            <a:pPr lvl="1" algn="just"/>
            <a:r>
              <a:rPr lang="en-US" sz="2400" b="1" dirty="0">
                <a:solidFill>
                  <a:schemeClr val="bg1"/>
                </a:solidFill>
                <a:latin typeface="Times New Roman" panose="02020603050405020304" pitchFamily="18" charset="0"/>
                <a:cs typeface="Times New Roman" panose="02020603050405020304" pitchFamily="18" charset="0"/>
              </a:rPr>
              <a:t>                                                              Measures of Assessment</a:t>
            </a:r>
          </a:p>
          <a:p>
            <a:pPr lvl="1" algn="just"/>
            <a:r>
              <a:rPr lang="en-US" sz="2400" b="1" dirty="0">
                <a:solidFill>
                  <a:schemeClr val="bg1"/>
                </a:solidFill>
                <a:latin typeface="Times New Roman" panose="02020603050405020304" pitchFamily="18" charset="0"/>
                <a:cs typeface="Times New Roman" panose="02020603050405020304" pitchFamily="18" charset="0"/>
              </a:rPr>
              <a:t>                                                              What They Mean and Why They Matter</a:t>
            </a:r>
          </a:p>
          <a:p>
            <a:pPr lvl="1"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A number of important measures are used to assess how well machine learning models perform in facial expression recognition:</a:t>
            </a:r>
          </a:p>
          <a:p>
            <a:pPr algn="just"/>
            <a:r>
              <a:rPr lang="en-US" sz="2400" b="1" dirty="0">
                <a:solidFill>
                  <a:schemeClr val="bg1"/>
                </a:solidFill>
                <a:latin typeface="Times New Roman" panose="02020603050405020304" pitchFamily="18" charset="0"/>
                <a:cs typeface="Times New Roman" panose="02020603050405020304" pitchFamily="18" charset="0"/>
              </a:rPr>
              <a:t>Accuracy:</a:t>
            </a:r>
          </a:p>
          <a:p>
            <a:pPr algn="just"/>
            <a:r>
              <a:rPr lang="en-US" sz="2400" dirty="0">
                <a:solidFill>
                  <a:schemeClr val="bg1"/>
                </a:solidFill>
                <a:latin typeface="Times New Roman" panose="02020603050405020304" pitchFamily="18" charset="0"/>
                <a:cs typeface="Times New Roman" panose="02020603050405020304" pitchFamily="18" charset="0"/>
              </a:rPr>
              <a:t>As defined by the following formula, accuracy is the proportion of accurately predicted occurrences to all instances in the dataset:</a:t>
            </a:r>
          </a:p>
          <a:p>
            <a:pPr algn="just"/>
            <a:r>
              <a:rPr lang="en-US" sz="2400" dirty="0">
                <a:solidFill>
                  <a:schemeClr val="bg1"/>
                </a:solidFill>
                <a:latin typeface="Times New Roman" panose="02020603050405020304" pitchFamily="18" charset="0"/>
                <a:cs typeface="Times New Roman" panose="02020603050405020304" pitchFamily="18" charset="0"/>
              </a:rPr>
              <a:t>                                                            Accuracy = (TP + TN) / (TP + TN + FP + FN)</a:t>
            </a:r>
          </a:p>
          <a:p>
            <a:pPr algn="just"/>
            <a:r>
              <a:rPr lang="en-US" sz="2400" b="1" dirty="0">
                <a:solidFill>
                  <a:schemeClr val="bg1"/>
                </a:solidFill>
                <a:latin typeface="Times New Roman" panose="02020603050405020304" pitchFamily="18" charset="0"/>
                <a:cs typeface="Times New Roman" panose="02020603050405020304" pitchFamily="18" charset="0"/>
              </a:rPr>
              <a:t>Relevance</a:t>
            </a:r>
            <a:r>
              <a:rPr lang="en-US" sz="2400" dirty="0">
                <a:solidFill>
                  <a:schemeClr val="bg1"/>
                </a:solidFill>
                <a:latin typeface="Times New Roman" panose="02020603050405020304" pitchFamily="18" charset="0"/>
                <a:cs typeface="Times New Roman" panose="02020603050405020304" pitchFamily="18" charset="0"/>
              </a:rPr>
              <a:t>: It gives a broad indication of how well a model is performing, but in datasets that are unbalanced and have under-represented classes, it may be deceptive.</a:t>
            </a:r>
          </a:p>
          <a:p>
            <a:pPr algn="just"/>
            <a:r>
              <a:rPr lang="en-US" sz="2400" b="1" dirty="0">
                <a:solidFill>
                  <a:schemeClr val="bg1"/>
                </a:solidFill>
                <a:latin typeface="Times New Roman" panose="02020603050405020304" pitchFamily="18" charset="0"/>
                <a:cs typeface="Times New Roman" panose="02020603050405020304" pitchFamily="18" charset="0"/>
              </a:rPr>
              <a:t>Correctness</a:t>
            </a:r>
            <a:r>
              <a:rPr lang="en-US" sz="2400"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Precision</a:t>
            </a:r>
            <a:r>
              <a:rPr lang="en-US" sz="2400" dirty="0">
                <a:solidFill>
                  <a:schemeClr val="bg1"/>
                </a:solidFill>
                <a:latin typeface="Times New Roman" panose="02020603050405020304" pitchFamily="18" charset="0"/>
                <a:cs typeface="Times New Roman" panose="02020603050405020304" pitchFamily="18" charset="0"/>
              </a:rPr>
              <a:t>: is defined as the ratio of accurately anticipated positive cases to all predicted positive instances. It can be written as follows:</a:t>
            </a:r>
          </a:p>
          <a:p>
            <a:pPr algn="just"/>
            <a:r>
              <a:rPr lang="en-US" sz="2400" dirty="0">
                <a:solidFill>
                  <a:schemeClr val="bg1"/>
                </a:solidFill>
                <a:latin typeface="Times New Roman" panose="02020603050405020304" pitchFamily="18" charset="0"/>
                <a:cs typeface="Times New Roman" panose="02020603050405020304" pitchFamily="18" charset="0"/>
              </a:rPr>
              <a:t>                                                                           Precision = TP / (TP + FP)</a:t>
            </a:r>
          </a:p>
          <a:p>
            <a:pPr algn="just"/>
            <a:r>
              <a:rPr lang="en-US" sz="2400" dirty="0">
                <a:solidFill>
                  <a:schemeClr val="bg1"/>
                </a:solidFill>
                <a:latin typeface="Times New Roman" panose="02020603050405020304" pitchFamily="18" charset="0"/>
                <a:cs typeface="Times New Roman" panose="02020603050405020304" pitchFamily="18" charset="0"/>
              </a:rPr>
              <a:t>The model's low false positive rate is indicated by high precision, which is important in situations where false positives can be expensive.</a:t>
            </a:r>
          </a:p>
          <a:p>
            <a:pPr algn="just"/>
            <a:r>
              <a:rPr lang="en-US" sz="2400" b="1" dirty="0">
                <a:solidFill>
                  <a:schemeClr val="bg1"/>
                </a:solidFill>
                <a:latin typeface="Times New Roman" panose="02020603050405020304" pitchFamily="18" charset="0"/>
                <a:cs typeface="Times New Roman" panose="02020603050405020304" pitchFamily="18" charset="0"/>
              </a:rPr>
              <a:t>Sensitivity (Recall):</a:t>
            </a:r>
          </a:p>
          <a:p>
            <a:pPr algn="just"/>
            <a:r>
              <a:rPr lang="en-US" sz="2400" dirty="0">
                <a:solidFill>
                  <a:schemeClr val="bg1"/>
                </a:solidFill>
                <a:latin typeface="Times New Roman" panose="02020603050405020304" pitchFamily="18" charset="0"/>
                <a:cs typeface="Times New Roman" panose="02020603050405020304" pitchFamily="18" charset="0"/>
              </a:rPr>
              <a:t>The ratio of accurately anticipated positive cases to all actual positive instances is known as recall, and it is determined by:</a:t>
            </a:r>
          </a:p>
          <a:p>
            <a:pPr algn="just"/>
            <a:r>
              <a:rPr lang="en-US" sz="2400" dirty="0">
                <a:solidFill>
                  <a:schemeClr val="bg1"/>
                </a:solidFill>
                <a:latin typeface="Times New Roman" panose="02020603050405020304" pitchFamily="18" charset="0"/>
                <a:cs typeface="Times New Roman" panose="02020603050405020304" pitchFamily="18" charset="0"/>
              </a:rPr>
              <a:t>                                                                               Recall = TP / (TP + FN)</a:t>
            </a:r>
          </a:p>
          <a:p>
            <a:pPr algn="just"/>
            <a:r>
              <a:rPr lang="en-US" sz="2400" b="1" dirty="0">
                <a:solidFill>
                  <a:schemeClr val="bg1"/>
                </a:solidFill>
                <a:latin typeface="Times New Roman" panose="02020603050405020304" pitchFamily="18" charset="0"/>
                <a:cs typeface="Times New Roman" panose="02020603050405020304" pitchFamily="18" charset="0"/>
              </a:rPr>
              <a:t>Importance</a:t>
            </a:r>
            <a:r>
              <a:rPr lang="en-US" sz="2400" dirty="0">
                <a:solidFill>
                  <a:schemeClr val="bg1"/>
                </a:solidFill>
                <a:latin typeface="Times New Roman" panose="02020603050405020304" pitchFamily="18" charset="0"/>
                <a:cs typeface="Times New Roman" panose="02020603050405020304" pitchFamily="18" charset="0"/>
              </a:rPr>
              <a:t>: In situations like medical diagnostics, when it's critical to record as many true positive cases as possible, high recall is crucial.</a:t>
            </a:r>
          </a:p>
          <a:p>
            <a:pPr algn="just"/>
            <a:r>
              <a:rPr lang="en-US" sz="2400" b="1" dirty="0">
                <a:solidFill>
                  <a:schemeClr val="bg1"/>
                </a:solidFill>
                <a:latin typeface="Times New Roman" panose="02020603050405020304" pitchFamily="18" charset="0"/>
                <a:cs typeface="Times New Roman" panose="02020603050405020304" pitchFamily="18" charset="0"/>
              </a:rPr>
              <a:t>F1 Rating</a:t>
            </a:r>
            <a:r>
              <a:rPr lang="en-US" sz="2400"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The </a:t>
            </a:r>
            <a:r>
              <a:rPr lang="en-US" sz="2400" b="1" dirty="0">
                <a:solidFill>
                  <a:schemeClr val="bg1"/>
                </a:solidFill>
                <a:latin typeface="Times New Roman" panose="02020603050405020304" pitchFamily="18" charset="0"/>
                <a:cs typeface="Times New Roman" panose="02020603050405020304" pitchFamily="18" charset="0"/>
              </a:rPr>
              <a:t>F1 Score </a:t>
            </a:r>
            <a:r>
              <a:rPr lang="en-US" sz="2400" dirty="0">
                <a:solidFill>
                  <a:schemeClr val="bg1"/>
                </a:solidFill>
                <a:latin typeface="Times New Roman" panose="02020603050405020304" pitchFamily="18" charset="0"/>
                <a:cs typeface="Times New Roman" panose="02020603050405020304" pitchFamily="18" charset="0"/>
              </a:rPr>
              <a:t>provides a balance between precision &amp; recall by taking the harmonic mean of the two.</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                                                  F1 Score: F1 Score = 2 × (Precision × Recall) / (Precision + Recall)</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Importance</a:t>
            </a:r>
            <a:r>
              <a:rPr lang="en-US" sz="2400" dirty="0">
                <a:solidFill>
                  <a:schemeClr val="bg1"/>
                </a:solidFill>
                <a:latin typeface="Times New Roman" panose="02020603050405020304" pitchFamily="18" charset="0"/>
                <a:cs typeface="Times New Roman" panose="02020603050405020304" pitchFamily="18" charset="0"/>
              </a:rPr>
              <a:t>: Because it offers a single statistic that indicates both precision and recall, it is especially helpful in situations where there is a class imbalance.</a:t>
            </a:r>
          </a:p>
        </p:txBody>
      </p:sp>
    </p:spTree>
    <p:extLst>
      <p:ext uri="{BB962C8B-B14F-4D97-AF65-F5344CB8AC3E}">
        <p14:creationId xmlns:p14="http://schemas.microsoft.com/office/powerpoint/2010/main" val="1622979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039753" y="9620628"/>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28</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812505" y="83673"/>
            <a:ext cx="16878300" cy="3662541"/>
          </a:xfrm>
          <a:prstGeom prst="rect">
            <a:avLst/>
          </a:prstGeom>
          <a:noFill/>
        </p:spPr>
        <p:txBody>
          <a:bodyPr wrap="square" rtlCol="0">
            <a:spAutoFit/>
          </a:bodyPr>
          <a:lstStyle/>
          <a:p>
            <a:pPr lvl="0"/>
            <a:r>
              <a:rPr lang="en-US" sz="3600" b="1" dirty="0">
                <a:solidFill>
                  <a:schemeClr val="bg1"/>
                </a:solidFill>
                <a:latin typeface="Times New Roman" panose="02020603050405020304" pitchFamily="18" charset="0"/>
                <a:cs typeface="Times New Roman" panose="02020603050405020304" pitchFamily="18" charset="0"/>
              </a:rPr>
              <a:t>                                                                  </a:t>
            </a:r>
            <a:r>
              <a:rPr lang="en-US" sz="4400" b="1" dirty="0">
                <a:solidFill>
                  <a:schemeClr val="bg1"/>
                </a:solidFill>
                <a:latin typeface="Times New Roman" panose="02020603050405020304" pitchFamily="18" charset="0"/>
                <a:cs typeface="Times New Roman" panose="02020603050405020304" pitchFamily="18" charset="0"/>
              </a:rPr>
              <a:t>Results</a:t>
            </a:r>
          </a:p>
          <a:p>
            <a:pPr lvl="0"/>
            <a:endParaRPr lang="en-US" sz="4400" b="1" dirty="0">
              <a:solidFill>
                <a:schemeClr val="bg1"/>
              </a:solidFill>
              <a:latin typeface="Times New Roman" panose="02020603050405020304" pitchFamily="18" charset="0"/>
              <a:cs typeface="Times New Roman" panose="02020603050405020304" pitchFamily="18" charset="0"/>
            </a:endParaRPr>
          </a:p>
          <a:p>
            <a:pPr lvl="1"/>
            <a:r>
              <a:rPr lang="en-US" sz="2400" b="1" dirty="0">
                <a:solidFill>
                  <a:schemeClr val="bg1"/>
                </a:solidFill>
                <a:latin typeface="Times New Roman" panose="02020603050405020304" pitchFamily="18" charset="0"/>
                <a:cs typeface="Times New Roman" panose="02020603050405020304" pitchFamily="18" charset="0"/>
              </a:rPr>
              <a:t>Performance Evaluation of Algorithms</a:t>
            </a:r>
          </a:p>
          <a:p>
            <a:pPr lvl="2"/>
            <a:r>
              <a:rPr lang="en-US" sz="2400" dirty="0">
                <a:solidFill>
                  <a:schemeClr val="bg1"/>
                </a:solidFill>
                <a:latin typeface="Times New Roman" panose="02020603050405020304" pitchFamily="18" charset="0"/>
                <a:cs typeface="Times New Roman" panose="02020603050405020304" pitchFamily="18" charset="0"/>
              </a:rPr>
              <a:t>1.Detailed Metrics for Each Algorithm</a:t>
            </a:r>
          </a:p>
          <a:p>
            <a:pPr lvl="2"/>
            <a:r>
              <a:rPr lang="en-US" sz="2400" dirty="0">
                <a:solidFill>
                  <a:schemeClr val="bg1"/>
                </a:solidFill>
                <a:latin typeface="Times New Roman" panose="02020603050405020304" pitchFamily="18" charset="0"/>
                <a:cs typeface="Times New Roman" panose="02020603050405020304" pitchFamily="18" charset="0"/>
              </a:rPr>
              <a:t>2.Emphasis on Logistic Regression Performance</a:t>
            </a:r>
          </a:p>
          <a:p>
            <a:r>
              <a:rPr lang="en-US" sz="2400" dirty="0">
                <a:solidFill>
                  <a:schemeClr val="bg1"/>
                </a:solidFill>
                <a:latin typeface="Times New Roman" panose="02020603050405020304" pitchFamily="18" charset="0"/>
                <a:cs typeface="Times New Roman" panose="02020603050405020304" pitchFamily="18" charset="0"/>
              </a:rPr>
              <a:t>Comparative Analysis </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20">
            <a:extLst>
              <a:ext uri="{FF2B5EF4-FFF2-40B4-BE49-F238E27FC236}">
                <a16:creationId xmlns:a16="http://schemas.microsoft.com/office/drawing/2014/main" id="{7F28BCC3-DA4E-314C-B8CC-5CAFA7FDB5E2}"/>
              </a:ext>
            </a:extLst>
          </p:cNvPr>
          <p:cNvPicPr/>
          <p:nvPr/>
        </p:nvPicPr>
        <p:blipFill>
          <a:blip r:embed="rId2" cstate="print"/>
          <a:stretch>
            <a:fillRect/>
          </a:stretch>
        </p:blipFill>
        <p:spPr>
          <a:xfrm>
            <a:off x="821365" y="3032132"/>
            <a:ext cx="15866435" cy="5989353"/>
          </a:xfrm>
          <a:prstGeom prst="rect">
            <a:avLst/>
          </a:prstGeom>
        </p:spPr>
      </p:pic>
      <p:sp>
        <p:nvSpPr>
          <p:cNvPr id="7" name="TextBox 6">
            <a:extLst>
              <a:ext uri="{FF2B5EF4-FFF2-40B4-BE49-F238E27FC236}">
                <a16:creationId xmlns:a16="http://schemas.microsoft.com/office/drawing/2014/main" id="{87F7C7FD-067D-C046-817E-71A4F9E4C35D}"/>
              </a:ext>
            </a:extLst>
          </p:cNvPr>
          <p:cNvSpPr txBox="1"/>
          <p:nvPr/>
        </p:nvSpPr>
        <p:spPr>
          <a:xfrm>
            <a:off x="7086600" y="9332658"/>
            <a:ext cx="4724400" cy="461665"/>
          </a:xfrm>
          <a:prstGeom prst="rect">
            <a:avLst/>
          </a:prstGeom>
          <a:noFill/>
        </p:spPr>
        <p:txBody>
          <a:bodyPr wrap="square" rtlCol="0">
            <a:spAutoFit/>
          </a:bodyPr>
          <a:lstStyle/>
          <a:p>
            <a:r>
              <a:rPr lang="en-US" sz="2400" b="1" i="1" dirty="0">
                <a:solidFill>
                  <a:schemeClr val="bg1"/>
                </a:solidFill>
                <a:latin typeface="Times New Roman" panose="02020603050405020304" pitchFamily="18" charset="0"/>
                <a:cs typeface="Times New Roman" panose="02020603050405020304" pitchFamily="18" charset="0"/>
              </a:rPr>
              <a:t>Figure: Evaluate Results</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92688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529293" y="9382799"/>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29</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21">
            <a:extLst>
              <a:ext uri="{FF2B5EF4-FFF2-40B4-BE49-F238E27FC236}">
                <a16:creationId xmlns:a16="http://schemas.microsoft.com/office/drawing/2014/main" id="{2DD0B30D-9CD6-BF44-9B94-7305DC14D06D}"/>
              </a:ext>
            </a:extLst>
          </p:cNvPr>
          <p:cNvPicPr/>
          <p:nvPr/>
        </p:nvPicPr>
        <p:blipFill>
          <a:blip r:embed="rId2" cstate="print"/>
          <a:stretch>
            <a:fillRect/>
          </a:stretch>
        </p:blipFill>
        <p:spPr>
          <a:xfrm>
            <a:off x="1158506" y="971981"/>
            <a:ext cx="15970987" cy="6076520"/>
          </a:xfrm>
          <a:prstGeom prst="rect">
            <a:avLst/>
          </a:prstGeom>
        </p:spPr>
      </p:pic>
      <p:sp>
        <p:nvSpPr>
          <p:cNvPr id="4" name="TextBox 3">
            <a:extLst>
              <a:ext uri="{FF2B5EF4-FFF2-40B4-BE49-F238E27FC236}">
                <a16:creationId xmlns:a16="http://schemas.microsoft.com/office/drawing/2014/main" id="{BCEBD17C-12C7-7C49-8F23-F36A2FE102D6}"/>
              </a:ext>
            </a:extLst>
          </p:cNvPr>
          <p:cNvSpPr txBox="1"/>
          <p:nvPr/>
        </p:nvSpPr>
        <p:spPr>
          <a:xfrm>
            <a:off x="8153400" y="7579136"/>
            <a:ext cx="3581400" cy="461665"/>
          </a:xfrm>
          <a:prstGeom prst="rect">
            <a:avLst/>
          </a:prstGeom>
          <a:noFill/>
        </p:spPr>
        <p:txBody>
          <a:bodyPr wrap="square" rtlCol="0">
            <a:spAutoFit/>
          </a:bodyPr>
          <a:lstStyle/>
          <a:p>
            <a:r>
              <a:rPr lang="en-US" sz="2400" b="1" i="1" dirty="0">
                <a:solidFill>
                  <a:schemeClr val="bg1"/>
                </a:solidFill>
                <a:latin typeface="Times New Roman" panose="02020603050405020304" pitchFamily="18" charset="0"/>
                <a:cs typeface="Times New Roman" panose="02020603050405020304" pitchFamily="18" charset="0"/>
              </a:rPr>
              <a:t>Figure: Explanation</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54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087600" y="9353120"/>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30</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22">
            <a:extLst>
              <a:ext uri="{FF2B5EF4-FFF2-40B4-BE49-F238E27FC236}">
                <a16:creationId xmlns:a16="http://schemas.microsoft.com/office/drawing/2014/main" id="{C9229B3D-857A-BB4E-AD6B-A17F9A48580F}"/>
              </a:ext>
            </a:extLst>
          </p:cNvPr>
          <p:cNvPicPr/>
          <p:nvPr/>
        </p:nvPicPr>
        <p:blipFill>
          <a:blip r:embed="rId2" cstate="print"/>
          <a:stretch>
            <a:fillRect/>
          </a:stretch>
        </p:blipFill>
        <p:spPr>
          <a:xfrm>
            <a:off x="1354766" y="933880"/>
            <a:ext cx="15333034" cy="6952820"/>
          </a:xfrm>
          <a:prstGeom prst="rect">
            <a:avLst/>
          </a:prstGeom>
        </p:spPr>
      </p:pic>
      <p:sp>
        <p:nvSpPr>
          <p:cNvPr id="7" name="TextBox 6">
            <a:extLst>
              <a:ext uri="{FF2B5EF4-FFF2-40B4-BE49-F238E27FC236}">
                <a16:creationId xmlns:a16="http://schemas.microsoft.com/office/drawing/2014/main" id="{4735EBA8-D9BD-5E48-88B4-1564A3559019}"/>
              </a:ext>
            </a:extLst>
          </p:cNvPr>
          <p:cNvSpPr txBox="1"/>
          <p:nvPr/>
        </p:nvSpPr>
        <p:spPr>
          <a:xfrm>
            <a:off x="7696200" y="8408577"/>
            <a:ext cx="3581400" cy="461665"/>
          </a:xfrm>
          <a:prstGeom prst="rect">
            <a:avLst/>
          </a:prstGeom>
          <a:noFill/>
        </p:spPr>
        <p:txBody>
          <a:bodyPr wrap="square" rtlCol="0">
            <a:spAutoFit/>
          </a:bodyPr>
          <a:lstStyle/>
          <a:p>
            <a:r>
              <a:rPr lang="en-US" sz="2400" b="1" i="1" dirty="0">
                <a:solidFill>
                  <a:schemeClr val="bg1"/>
                </a:solidFill>
                <a:latin typeface="Times New Roman" panose="02020603050405020304" pitchFamily="18" charset="0"/>
                <a:cs typeface="Times New Roman" panose="02020603050405020304" pitchFamily="18" charset="0"/>
              </a:rPr>
              <a:t>Figure: Visualize Results</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554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87700" y="949968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31</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23">
            <a:extLst>
              <a:ext uri="{FF2B5EF4-FFF2-40B4-BE49-F238E27FC236}">
                <a16:creationId xmlns:a16="http://schemas.microsoft.com/office/drawing/2014/main" id="{AB96E3FA-477E-8E41-BD44-6198D61CA4EA}"/>
              </a:ext>
            </a:extLst>
          </p:cNvPr>
          <p:cNvPicPr/>
          <p:nvPr/>
        </p:nvPicPr>
        <p:blipFill>
          <a:blip r:embed="rId2" cstate="print"/>
          <a:stretch>
            <a:fillRect/>
          </a:stretch>
        </p:blipFill>
        <p:spPr>
          <a:xfrm>
            <a:off x="3486150" y="971980"/>
            <a:ext cx="10172700" cy="7983519"/>
          </a:xfrm>
          <a:prstGeom prst="rect">
            <a:avLst/>
          </a:prstGeom>
        </p:spPr>
      </p:pic>
      <p:sp>
        <p:nvSpPr>
          <p:cNvPr id="4" name="TextBox 3">
            <a:extLst>
              <a:ext uri="{FF2B5EF4-FFF2-40B4-BE49-F238E27FC236}">
                <a16:creationId xmlns:a16="http://schemas.microsoft.com/office/drawing/2014/main" id="{F9FAE607-2E27-BC46-BAEF-AC13C9717C64}"/>
              </a:ext>
            </a:extLst>
          </p:cNvPr>
          <p:cNvSpPr txBox="1"/>
          <p:nvPr/>
        </p:nvSpPr>
        <p:spPr>
          <a:xfrm>
            <a:off x="6591300" y="9268852"/>
            <a:ext cx="5105400" cy="461665"/>
          </a:xfrm>
          <a:prstGeom prst="rect">
            <a:avLst/>
          </a:prstGeom>
          <a:noFill/>
        </p:spPr>
        <p:txBody>
          <a:bodyPr wrap="square" rtlCol="0">
            <a:spAutoFit/>
          </a:bodyPr>
          <a:lstStyle/>
          <a:p>
            <a:r>
              <a:rPr lang="en-US" sz="2400" b="1" i="1" dirty="0">
                <a:solidFill>
                  <a:schemeClr val="bg1"/>
                </a:solidFill>
                <a:latin typeface="Times New Roman" panose="02020603050405020304" pitchFamily="18" charset="0"/>
                <a:cs typeface="Times New Roman" panose="02020603050405020304" pitchFamily="18" charset="0"/>
              </a:rPr>
              <a:t>Figure: Accuracy of Different Model</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903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87700" y="949968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32</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1" name="Image 24">
            <a:extLst>
              <a:ext uri="{FF2B5EF4-FFF2-40B4-BE49-F238E27FC236}">
                <a16:creationId xmlns:a16="http://schemas.microsoft.com/office/drawing/2014/main" id="{5F22FF57-8D89-5F4B-A011-726062FE9FCF}"/>
              </a:ext>
            </a:extLst>
          </p:cNvPr>
          <p:cNvPicPr/>
          <p:nvPr/>
        </p:nvPicPr>
        <p:blipFill>
          <a:blip r:embed="rId2" cstate="print"/>
          <a:stretch>
            <a:fillRect/>
          </a:stretch>
        </p:blipFill>
        <p:spPr>
          <a:xfrm>
            <a:off x="3690102" y="493780"/>
            <a:ext cx="10814762" cy="8527705"/>
          </a:xfrm>
          <a:prstGeom prst="rect">
            <a:avLst/>
          </a:prstGeom>
        </p:spPr>
      </p:pic>
      <p:sp>
        <p:nvSpPr>
          <p:cNvPr id="7" name="Rectangle 6">
            <a:extLst>
              <a:ext uri="{FF2B5EF4-FFF2-40B4-BE49-F238E27FC236}">
                <a16:creationId xmlns:a16="http://schemas.microsoft.com/office/drawing/2014/main" id="{EA2B92E6-F872-8244-B342-0054EB14870D}"/>
              </a:ext>
            </a:extLst>
          </p:cNvPr>
          <p:cNvSpPr/>
          <p:nvPr/>
        </p:nvSpPr>
        <p:spPr>
          <a:xfrm>
            <a:off x="5968806" y="9334693"/>
            <a:ext cx="6257354" cy="461665"/>
          </a:xfrm>
          <a:prstGeom prst="rect">
            <a:avLst/>
          </a:prstGeom>
        </p:spPr>
        <p:txBody>
          <a:bodyPr wrap="none">
            <a:spAutoFit/>
          </a:bodyPr>
          <a:lstStyle/>
          <a:p>
            <a:pPr marL="631825" marR="631825" algn="ctr">
              <a:spcBef>
                <a:spcPts val="680"/>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Precision</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of</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Different</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Models</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30849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87700" y="949968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33</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1" name="Image 25">
            <a:extLst>
              <a:ext uri="{FF2B5EF4-FFF2-40B4-BE49-F238E27FC236}">
                <a16:creationId xmlns:a16="http://schemas.microsoft.com/office/drawing/2014/main" id="{B0742AA8-5118-6B4C-AA0F-F225C23CE56F}"/>
              </a:ext>
            </a:extLst>
          </p:cNvPr>
          <p:cNvPicPr/>
          <p:nvPr/>
        </p:nvPicPr>
        <p:blipFill>
          <a:blip r:embed="rId2" cstate="print"/>
          <a:stretch>
            <a:fillRect/>
          </a:stretch>
        </p:blipFill>
        <p:spPr>
          <a:xfrm>
            <a:off x="3657600" y="556482"/>
            <a:ext cx="10591800" cy="8201230"/>
          </a:xfrm>
          <a:prstGeom prst="rect">
            <a:avLst/>
          </a:prstGeom>
        </p:spPr>
      </p:pic>
      <p:sp>
        <p:nvSpPr>
          <p:cNvPr id="12" name="Rectangle 11">
            <a:extLst>
              <a:ext uri="{FF2B5EF4-FFF2-40B4-BE49-F238E27FC236}">
                <a16:creationId xmlns:a16="http://schemas.microsoft.com/office/drawing/2014/main" id="{F866FECC-5C4A-404F-8602-D561C389F4D7}"/>
              </a:ext>
            </a:extLst>
          </p:cNvPr>
          <p:cNvSpPr/>
          <p:nvPr/>
        </p:nvSpPr>
        <p:spPr>
          <a:xfrm>
            <a:off x="6165013" y="9271990"/>
            <a:ext cx="5864939" cy="461665"/>
          </a:xfrm>
          <a:prstGeom prst="rect">
            <a:avLst/>
          </a:prstGeom>
        </p:spPr>
        <p:txBody>
          <a:bodyPr wrap="none">
            <a:spAutoFit/>
          </a:bodyPr>
          <a:lstStyle/>
          <a:p>
            <a:pPr marL="631825" marR="631825" algn="ctr">
              <a:spcBef>
                <a:spcPts val="5"/>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Figure:</a:t>
            </a:r>
            <a:r>
              <a:rPr lang="en-US" sz="2400" b="1" i="1" spc="-2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Recall</a:t>
            </a:r>
            <a:r>
              <a:rPr lang="en-US" sz="2400" b="1" i="1" spc="-1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of</a:t>
            </a:r>
            <a:r>
              <a:rPr lang="en-US" sz="2400" b="1" i="1" spc="-1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Different</a:t>
            </a:r>
            <a:r>
              <a:rPr lang="en-US" sz="2400" b="1" i="1" spc="-1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Models</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7891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87700" y="949968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34</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27">
            <a:extLst>
              <a:ext uri="{FF2B5EF4-FFF2-40B4-BE49-F238E27FC236}">
                <a16:creationId xmlns:a16="http://schemas.microsoft.com/office/drawing/2014/main" id="{A54E226E-7A16-8A42-A3EA-00293A2974C0}"/>
              </a:ext>
            </a:extLst>
          </p:cNvPr>
          <p:cNvPicPr/>
          <p:nvPr/>
        </p:nvPicPr>
        <p:blipFill>
          <a:blip r:embed="rId2" cstate="print"/>
          <a:stretch>
            <a:fillRect/>
          </a:stretch>
        </p:blipFill>
        <p:spPr>
          <a:xfrm>
            <a:off x="3276600" y="556482"/>
            <a:ext cx="10972800" cy="8416871"/>
          </a:xfrm>
          <a:prstGeom prst="rect">
            <a:avLst/>
          </a:prstGeom>
        </p:spPr>
      </p:pic>
      <p:sp>
        <p:nvSpPr>
          <p:cNvPr id="4" name="Rectangle 3">
            <a:extLst>
              <a:ext uri="{FF2B5EF4-FFF2-40B4-BE49-F238E27FC236}">
                <a16:creationId xmlns:a16="http://schemas.microsoft.com/office/drawing/2014/main" id="{663ED459-B95B-CE4C-A1D8-0ADBC610E059}"/>
              </a:ext>
            </a:extLst>
          </p:cNvPr>
          <p:cNvSpPr/>
          <p:nvPr/>
        </p:nvSpPr>
        <p:spPr>
          <a:xfrm>
            <a:off x="5616369" y="9252938"/>
            <a:ext cx="6293262" cy="461665"/>
          </a:xfrm>
          <a:prstGeom prst="rect">
            <a:avLst/>
          </a:prstGeom>
        </p:spPr>
        <p:txBody>
          <a:bodyPr wrap="none">
            <a:spAutoFit/>
          </a:bodyPr>
          <a:lstStyle/>
          <a:p>
            <a:pPr marL="631825" marR="631825" algn="ctr">
              <a:spcAft>
                <a:spcPts val="0"/>
              </a:spcAft>
            </a:pPr>
            <a:r>
              <a:rPr lang="en-US" sz="2400" b="1" i="1" dirty="0">
                <a:solidFill>
                  <a:schemeClr val="bg1">
                    <a:lumMod val="95000"/>
                  </a:schemeClr>
                </a:solidFill>
                <a:latin typeface="Times New Roman" panose="02020603050405020304" pitchFamily="18" charset="0"/>
                <a:ea typeface="Times New Roman" panose="02020603050405020304" pitchFamily="18" charset="0"/>
              </a:rPr>
              <a:t>Figure:</a:t>
            </a:r>
            <a:r>
              <a:rPr lang="en-US" sz="2400" b="1" i="1" spc="-20" dirty="0">
                <a:solidFill>
                  <a:schemeClr val="bg1">
                    <a:lumMod val="95000"/>
                  </a:schemeClr>
                </a:solidFill>
                <a:latin typeface="Times New Roman" panose="02020603050405020304" pitchFamily="18" charset="0"/>
                <a:ea typeface="Times New Roman" panose="02020603050405020304" pitchFamily="18" charset="0"/>
              </a:rPr>
              <a:t> </a:t>
            </a:r>
            <a:r>
              <a:rPr lang="en-US" sz="2400" b="1" i="1" dirty="0">
                <a:solidFill>
                  <a:schemeClr val="bg1">
                    <a:lumMod val="95000"/>
                  </a:schemeClr>
                </a:solidFill>
                <a:latin typeface="Times New Roman" panose="02020603050405020304" pitchFamily="18" charset="0"/>
                <a:ea typeface="Times New Roman" panose="02020603050405020304" pitchFamily="18" charset="0"/>
              </a:rPr>
              <a:t>F1_Score</a:t>
            </a:r>
            <a:r>
              <a:rPr lang="en-US" sz="2400" b="1" i="1" spc="-20" dirty="0">
                <a:solidFill>
                  <a:schemeClr val="bg1">
                    <a:lumMod val="95000"/>
                  </a:schemeClr>
                </a:solidFill>
                <a:latin typeface="Times New Roman" panose="02020603050405020304" pitchFamily="18" charset="0"/>
                <a:ea typeface="Times New Roman" panose="02020603050405020304" pitchFamily="18" charset="0"/>
              </a:rPr>
              <a:t> </a:t>
            </a:r>
            <a:r>
              <a:rPr lang="en-US" sz="2400" b="1" i="1" dirty="0">
                <a:solidFill>
                  <a:schemeClr val="bg1">
                    <a:lumMod val="95000"/>
                  </a:schemeClr>
                </a:solidFill>
                <a:latin typeface="Times New Roman" panose="02020603050405020304" pitchFamily="18" charset="0"/>
                <a:ea typeface="Times New Roman" panose="02020603050405020304" pitchFamily="18" charset="0"/>
              </a:rPr>
              <a:t>of</a:t>
            </a:r>
            <a:r>
              <a:rPr lang="en-US" sz="2400" b="1" i="1" spc="-20" dirty="0">
                <a:solidFill>
                  <a:schemeClr val="bg1">
                    <a:lumMod val="95000"/>
                  </a:schemeClr>
                </a:solidFill>
                <a:latin typeface="Times New Roman" panose="02020603050405020304" pitchFamily="18" charset="0"/>
                <a:ea typeface="Times New Roman" panose="02020603050405020304" pitchFamily="18" charset="0"/>
              </a:rPr>
              <a:t> </a:t>
            </a:r>
            <a:r>
              <a:rPr lang="en-US" sz="2400" b="1" i="1" dirty="0">
                <a:solidFill>
                  <a:schemeClr val="bg1">
                    <a:lumMod val="95000"/>
                  </a:schemeClr>
                </a:solidFill>
                <a:latin typeface="Times New Roman" panose="02020603050405020304" pitchFamily="18" charset="0"/>
                <a:ea typeface="Times New Roman" panose="02020603050405020304" pitchFamily="18" charset="0"/>
              </a:rPr>
              <a:t>Different</a:t>
            </a:r>
            <a:r>
              <a:rPr lang="en-US" sz="2400" b="1" i="1" spc="-15" dirty="0">
                <a:solidFill>
                  <a:schemeClr val="bg1">
                    <a:lumMod val="95000"/>
                  </a:schemeClr>
                </a:solidFill>
                <a:latin typeface="Times New Roman" panose="02020603050405020304" pitchFamily="18" charset="0"/>
                <a:ea typeface="Times New Roman" panose="02020603050405020304" pitchFamily="18" charset="0"/>
              </a:rPr>
              <a:t> </a:t>
            </a:r>
            <a:r>
              <a:rPr lang="en-US" sz="2400" b="1" i="1" spc="-10" dirty="0">
                <a:solidFill>
                  <a:schemeClr val="bg1">
                    <a:lumMod val="95000"/>
                  </a:schemeClr>
                </a:solidFill>
                <a:latin typeface="Times New Roman" panose="02020603050405020304" pitchFamily="18" charset="0"/>
                <a:ea typeface="Times New Roman" panose="02020603050405020304" pitchFamily="18" charset="0"/>
              </a:rPr>
              <a:t>Models</a:t>
            </a:r>
            <a:endParaRPr lang="en-US" sz="2400" dirty="0">
              <a:solidFill>
                <a:schemeClr val="bg1">
                  <a:lumMod val="95000"/>
                </a:schemeClr>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24680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87700" y="949968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35</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29">
            <a:extLst>
              <a:ext uri="{FF2B5EF4-FFF2-40B4-BE49-F238E27FC236}">
                <a16:creationId xmlns:a16="http://schemas.microsoft.com/office/drawing/2014/main" id="{9338894D-62A7-E244-8F38-31C959DECC81}"/>
              </a:ext>
            </a:extLst>
          </p:cNvPr>
          <p:cNvPicPr/>
          <p:nvPr/>
        </p:nvPicPr>
        <p:blipFill>
          <a:blip r:embed="rId2" cstate="print"/>
          <a:stretch>
            <a:fillRect/>
          </a:stretch>
        </p:blipFill>
        <p:spPr>
          <a:xfrm>
            <a:off x="1517798" y="2114064"/>
            <a:ext cx="15945293" cy="5795098"/>
          </a:xfrm>
          <a:prstGeom prst="rect">
            <a:avLst/>
          </a:prstGeom>
        </p:spPr>
      </p:pic>
      <p:sp>
        <p:nvSpPr>
          <p:cNvPr id="7" name="Rectangle 6">
            <a:extLst>
              <a:ext uri="{FF2B5EF4-FFF2-40B4-BE49-F238E27FC236}">
                <a16:creationId xmlns:a16="http://schemas.microsoft.com/office/drawing/2014/main" id="{FC3DB13E-AAB3-054D-8B99-9E994F28E33F}"/>
              </a:ext>
            </a:extLst>
          </p:cNvPr>
          <p:cNvSpPr/>
          <p:nvPr/>
        </p:nvSpPr>
        <p:spPr>
          <a:xfrm>
            <a:off x="4800600" y="8172936"/>
            <a:ext cx="9144000" cy="738664"/>
          </a:xfrm>
          <a:prstGeom prst="rect">
            <a:avLst/>
          </a:prstGeom>
        </p:spPr>
        <p:txBody>
          <a:bodyPr>
            <a:spAutoFit/>
          </a:bodyPr>
          <a:lstStyle/>
          <a:p>
            <a:pPr>
              <a:spcBef>
                <a:spcPts val="560"/>
              </a:spcBef>
              <a:spcAft>
                <a:spcPts val="0"/>
              </a:spcAft>
            </a:pPr>
            <a:r>
              <a:rPr lang="en-US" b="1" i="1" dirty="0">
                <a:latin typeface="Times New Roman" panose="02020603050405020304" pitchFamily="18" charset="0"/>
                <a:ea typeface="Times New Roman" panose="02020603050405020304" pitchFamily="18" charset="0"/>
              </a:rPr>
              <a:t> </a:t>
            </a:r>
            <a:endParaRPr lang="en-US" sz="2400" dirty="0">
              <a:solidFill>
                <a:schemeClr val="bg1"/>
              </a:solidFill>
              <a:latin typeface="Times New Roman" panose="02020603050405020304" pitchFamily="18" charset="0"/>
              <a:ea typeface="Times New Roman" panose="02020603050405020304" pitchFamily="18" charset="0"/>
            </a:endParaRPr>
          </a:p>
          <a:p>
            <a:pPr marL="631825" marR="629285"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Determine</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the</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Optimal </a:t>
            </a:r>
            <a:r>
              <a:rPr lang="en-US" sz="2400" b="1" i="1" spc="-10" dirty="0">
                <a:solidFill>
                  <a:schemeClr val="bg1"/>
                </a:solidFill>
                <a:latin typeface="Times New Roman" panose="02020603050405020304" pitchFamily="18" charset="0"/>
                <a:ea typeface="Times New Roman" panose="02020603050405020304" pitchFamily="18" charset="0"/>
              </a:rPr>
              <a:t>Model</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89790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87700" y="949968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36</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30">
            <a:extLst>
              <a:ext uri="{FF2B5EF4-FFF2-40B4-BE49-F238E27FC236}">
                <a16:creationId xmlns:a16="http://schemas.microsoft.com/office/drawing/2014/main" id="{F89FFEAA-FF3E-8A49-B0F4-A5CE65892098}"/>
              </a:ext>
            </a:extLst>
          </p:cNvPr>
          <p:cNvPicPr/>
          <p:nvPr/>
        </p:nvPicPr>
        <p:blipFill>
          <a:blip r:embed="rId2" cstate="print"/>
          <a:stretch>
            <a:fillRect/>
          </a:stretch>
        </p:blipFill>
        <p:spPr>
          <a:xfrm>
            <a:off x="1257301" y="971094"/>
            <a:ext cx="16230600" cy="7364609"/>
          </a:xfrm>
          <a:prstGeom prst="rect">
            <a:avLst/>
          </a:prstGeom>
        </p:spPr>
      </p:pic>
      <p:sp>
        <p:nvSpPr>
          <p:cNvPr id="4" name="Rectangle 3">
            <a:extLst>
              <a:ext uri="{FF2B5EF4-FFF2-40B4-BE49-F238E27FC236}">
                <a16:creationId xmlns:a16="http://schemas.microsoft.com/office/drawing/2014/main" id="{FB4952F0-6A2F-8544-AB6D-90D6866130A3}"/>
              </a:ext>
            </a:extLst>
          </p:cNvPr>
          <p:cNvSpPr/>
          <p:nvPr/>
        </p:nvSpPr>
        <p:spPr>
          <a:xfrm>
            <a:off x="6983645" y="8697213"/>
            <a:ext cx="4777911" cy="461665"/>
          </a:xfrm>
          <a:prstGeom prst="rect">
            <a:avLst/>
          </a:prstGeom>
        </p:spPr>
        <p:txBody>
          <a:bodyPr wrap="none">
            <a:spAutoFit/>
          </a:bodyPr>
          <a:lstStyle/>
          <a:p>
            <a:pPr marL="631825" marR="631825"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1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Model</a:t>
            </a:r>
            <a:r>
              <a:rPr lang="en-US" sz="2400" b="1" i="1" spc="-10" dirty="0">
                <a:solidFill>
                  <a:schemeClr val="bg1"/>
                </a:solidFill>
                <a:latin typeface="Times New Roman" panose="02020603050405020304" pitchFamily="18" charset="0"/>
                <a:ea typeface="Times New Roman" panose="02020603050405020304" pitchFamily="18" charset="0"/>
              </a:rPr>
              <a:t> Evaluation</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44009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05298" y="949968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37</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31">
            <a:extLst>
              <a:ext uri="{FF2B5EF4-FFF2-40B4-BE49-F238E27FC236}">
                <a16:creationId xmlns:a16="http://schemas.microsoft.com/office/drawing/2014/main" id="{981FDF0C-91A1-F647-8D6F-03D569D4EEAD}"/>
              </a:ext>
            </a:extLst>
          </p:cNvPr>
          <p:cNvPicPr/>
          <p:nvPr/>
        </p:nvPicPr>
        <p:blipFill>
          <a:blip r:embed="rId2" cstate="print"/>
          <a:stretch>
            <a:fillRect/>
          </a:stretch>
        </p:blipFill>
        <p:spPr>
          <a:xfrm>
            <a:off x="1990062" y="1033536"/>
            <a:ext cx="15415436" cy="7242379"/>
          </a:xfrm>
          <a:prstGeom prst="rect">
            <a:avLst/>
          </a:prstGeom>
        </p:spPr>
      </p:pic>
    </p:spTree>
    <p:extLst>
      <p:ext uri="{BB962C8B-B14F-4D97-AF65-F5344CB8AC3E}">
        <p14:creationId xmlns:p14="http://schemas.microsoft.com/office/powerpoint/2010/main" val="4113074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887700" y="9499685"/>
            <a:ext cx="3200400"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38</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1" name="Image 32">
            <a:extLst>
              <a:ext uri="{FF2B5EF4-FFF2-40B4-BE49-F238E27FC236}">
                <a16:creationId xmlns:a16="http://schemas.microsoft.com/office/drawing/2014/main" id="{0A595F8A-F12C-A44C-BBCD-3BF2EFFD477B}"/>
              </a:ext>
            </a:extLst>
          </p:cNvPr>
          <p:cNvPicPr/>
          <p:nvPr/>
        </p:nvPicPr>
        <p:blipFill>
          <a:blip r:embed="rId2" cstate="print"/>
          <a:stretch>
            <a:fillRect/>
          </a:stretch>
        </p:blipFill>
        <p:spPr>
          <a:xfrm>
            <a:off x="1354767" y="1080849"/>
            <a:ext cx="16133134" cy="4672251"/>
          </a:xfrm>
          <a:prstGeom prst="rect">
            <a:avLst/>
          </a:prstGeom>
        </p:spPr>
      </p:pic>
    </p:spTree>
    <p:extLst>
      <p:ext uri="{BB962C8B-B14F-4D97-AF65-F5344CB8AC3E}">
        <p14:creationId xmlns:p14="http://schemas.microsoft.com/office/powerpoint/2010/main" val="28488398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973299" y="9655331"/>
            <a:ext cx="3429001"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39</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33">
            <a:extLst>
              <a:ext uri="{FF2B5EF4-FFF2-40B4-BE49-F238E27FC236}">
                <a16:creationId xmlns:a16="http://schemas.microsoft.com/office/drawing/2014/main" id="{01354DF0-5409-BB48-B5FD-43EBF4BDEC70}"/>
              </a:ext>
            </a:extLst>
          </p:cNvPr>
          <p:cNvPicPr/>
          <p:nvPr/>
        </p:nvPicPr>
        <p:blipFill>
          <a:blip r:embed="rId2" cstate="print"/>
          <a:stretch>
            <a:fillRect/>
          </a:stretch>
        </p:blipFill>
        <p:spPr>
          <a:xfrm>
            <a:off x="2319830" y="326536"/>
            <a:ext cx="14139369" cy="8694949"/>
          </a:xfrm>
          <a:prstGeom prst="rect">
            <a:avLst/>
          </a:prstGeom>
        </p:spPr>
      </p:pic>
      <p:sp>
        <p:nvSpPr>
          <p:cNvPr id="4" name="Rectangle 3">
            <a:extLst>
              <a:ext uri="{FF2B5EF4-FFF2-40B4-BE49-F238E27FC236}">
                <a16:creationId xmlns:a16="http://schemas.microsoft.com/office/drawing/2014/main" id="{7C1F6AF0-BA60-DB4F-AB2C-21033E7D5123}"/>
              </a:ext>
            </a:extLst>
          </p:cNvPr>
          <p:cNvSpPr/>
          <p:nvPr/>
        </p:nvSpPr>
        <p:spPr>
          <a:xfrm>
            <a:off x="7278618" y="9422390"/>
            <a:ext cx="4784323" cy="461665"/>
          </a:xfrm>
          <a:prstGeom prst="rect">
            <a:avLst/>
          </a:prstGeom>
        </p:spPr>
        <p:txBody>
          <a:bodyPr wrap="none">
            <a:spAutoFit/>
          </a:bodyPr>
          <a:lstStyle/>
          <a:p>
            <a:pPr marL="631825" marR="631825"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Confusion</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Matrix</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39968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498282" y="9396952"/>
            <a:ext cx="3429001"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40</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34">
            <a:extLst>
              <a:ext uri="{FF2B5EF4-FFF2-40B4-BE49-F238E27FC236}">
                <a16:creationId xmlns:a16="http://schemas.microsoft.com/office/drawing/2014/main" id="{AA8E5633-AE49-0E46-B02C-011072CE483C}"/>
              </a:ext>
            </a:extLst>
          </p:cNvPr>
          <p:cNvPicPr/>
          <p:nvPr/>
        </p:nvPicPr>
        <p:blipFill>
          <a:blip r:embed="rId2" cstate="print"/>
          <a:stretch>
            <a:fillRect/>
          </a:stretch>
        </p:blipFill>
        <p:spPr>
          <a:xfrm>
            <a:off x="982183" y="1033536"/>
            <a:ext cx="16230600" cy="6243564"/>
          </a:xfrm>
          <a:prstGeom prst="rect">
            <a:avLst/>
          </a:prstGeom>
        </p:spPr>
      </p:pic>
      <p:sp>
        <p:nvSpPr>
          <p:cNvPr id="7" name="Rectangle 6">
            <a:extLst>
              <a:ext uri="{FF2B5EF4-FFF2-40B4-BE49-F238E27FC236}">
                <a16:creationId xmlns:a16="http://schemas.microsoft.com/office/drawing/2014/main" id="{2388E546-D5EB-1142-AD75-B674A2E141FC}"/>
              </a:ext>
            </a:extLst>
          </p:cNvPr>
          <p:cNvSpPr/>
          <p:nvPr/>
        </p:nvSpPr>
        <p:spPr>
          <a:xfrm>
            <a:off x="4800600" y="7541863"/>
            <a:ext cx="9144000" cy="738664"/>
          </a:xfrm>
          <a:prstGeom prst="rect">
            <a:avLst/>
          </a:prstGeom>
        </p:spPr>
        <p:txBody>
          <a:bodyPr>
            <a:spAutoFit/>
          </a:bodyPr>
          <a:lstStyle/>
          <a:p>
            <a:pPr>
              <a:spcBef>
                <a:spcPts val="745"/>
              </a:spcBef>
              <a:spcAft>
                <a:spcPts val="0"/>
              </a:spcAft>
            </a:pPr>
            <a:r>
              <a:rPr lang="en-US" b="1" i="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marL="631825" marR="631825" algn="ctr">
              <a:spcBef>
                <a:spcPts val="5"/>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4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Classification</a:t>
            </a:r>
            <a:r>
              <a:rPr lang="en-US" sz="2400" b="1" i="1" spc="-40"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Report</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35206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498282" y="9396952"/>
            <a:ext cx="3429001"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41</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1" name="Image 35">
            <a:extLst>
              <a:ext uri="{FF2B5EF4-FFF2-40B4-BE49-F238E27FC236}">
                <a16:creationId xmlns:a16="http://schemas.microsoft.com/office/drawing/2014/main" id="{0F130FA9-B90D-4B4D-ABDE-36D6165D293B}"/>
              </a:ext>
            </a:extLst>
          </p:cNvPr>
          <p:cNvPicPr/>
          <p:nvPr/>
        </p:nvPicPr>
        <p:blipFill>
          <a:blip r:embed="rId2" cstate="print"/>
          <a:stretch>
            <a:fillRect/>
          </a:stretch>
        </p:blipFill>
        <p:spPr>
          <a:xfrm>
            <a:off x="2268987" y="967551"/>
            <a:ext cx="14865380" cy="7376350"/>
          </a:xfrm>
          <a:prstGeom prst="rect">
            <a:avLst/>
          </a:prstGeom>
        </p:spPr>
      </p:pic>
      <p:sp>
        <p:nvSpPr>
          <p:cNvPr id="4" name="Rectangle 3">
            <a:extLst>
              <a:ext uri="{FF2B5EF4-FFF2-40B4-BE49-F238E27FC236}">
                <a16:creationId xmlns:a16="http://schemas.microsoft.com/office/drawing/2014/main" id="{908B51C1-7BC5-4C4A-9D3E-6CF0DEA08123}"/>
              </a:ext>
            </a:extLst>
          </p:cNvPr>
          <p:cNvSpPr/>
          <p:nvPr/>
        </p:nvSpPr>
        <p:spPr>
          <a:xfrm>
            <a:off x="6705600" y="8791799"/>
            <a:ext cx="6245621" cy="461665"/>
          </a:xfrm>
          <a:prstGeom prst="rect">
            <a:avLst/>
          </a:prstGeom>
        </p:spPr>
        <p:txBody>
          <a:bodyPr wrap="none">
            <a:spAutoFit/>
          </a:bodyPr>
          <a:lstStyle/>
          <a:p>
            <a:pPr marL="631825" marR="631825"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5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Visualizing</a:t>
            </a:r>
            <a:r>
              <a:rPr lang="en-US" sz="2400" b="1" i="1" spc="-50"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Misclassifications</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42208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401800" y="9730518"/>
            <a:ext cx="3429001"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42</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36">
            <a:extLst>
              <a:ext uri="{FF2B5EF4-FFF2-40B4-BE49-F238E27FC236}">
                <a16:creationId xmlns:a16="http://schemas.microsoft.com/office/drawing/2014/main" id="{266594C5-5565-FC41-840C-4953BE9C6650}"/>
              </a:ext>
            </a:extLst>
          </p:cNvPr>
          <p:cNvPicPr/>
          <p:nvPr/>
        </p:nvPicPr>
        <p:blipFill>
          <a:blip r:embed="rId2" cstate="print"/>
          <a:stretch>
            <a:fillRect/>
          </a:stretch>
        </p:blipFill>
        <p:spPr>
          <a:xfrm>
            <a:off x="1614377" y="876300"/>
            <a:ext cx="14289019" cy="8015314"/>
          </a:xfrm>
          <a:prstGeom prst="rect">
            <a:avLst/>
          </a:prstGeom>
        </p:spPr>
      </p:pic>
      <p:sp>
        <p:nvSpPr>
          <p:cNvPr id="7" name="Rectangle 6">
            <a:extLst>
              <a:ext uri="{FF2B5EF4-FFF2-40B4-BE49-F238E27FC236}">
                <a16:creationId xmlns:a16="http://schemas.microsoft.com/office/drawing/2014/main" id="{6FB242EF-F32F-C84A-8E59-21EA82AEA087}"/>
              </a:ext>
            </a:extLst>
          </p:cNvPr>
          <p:cNvSpPr/>
          <p:nvPr/>
        </p:nvSpPr>
        <p:spPr>
          <a:xfrm>
            <a:off x="6818928" y="9273515"/>
            <a:ext cx="4813177" cy="461665"/>
          </a:xfrm>
          <a:prstGeom prst="rect">
            <a:avLst/>
          </a:prstGeom>
        </p:spPr>
        <p:txBody>
          <a:bodyPr wrap="none">
            <a:spAutoFit/>
          </a:bodyPr>
          <a:lstStyle/>
          <a:p>
            <a:pPr marL="631825" marR="632460"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Facial</a:t>
            </a:r>
            <a:r>
              <a:rPr lang="en-US" sz="2400" b="1" i="1" spc="-5"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Expression</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348136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92400" y="9730518"/>
            <a:ext cx="3698801"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43</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37">
            <a:extLst>
              <a:ext uri="{FF2B5EF4-FFF2-40B4-BE49-F238E27FC236}">
                <a16:creationId xmlns:a16="http://schemas.microsoft.com/office/drawing/2014/main" id="{5411370F-33B5-0945-ABE2-D969E721DEDD}"/>
              </a:ext>
            </a:extLst>
          </p:cNvPr>
          <p:cNvPicPr/>
          <p:nvPr/>
        </p:nvPicPr>
        <p:blipFill>
          <a:blip r:embed="rId2" cstate="print"/>
          <a:stretch>
            <a:fillRect/>
          </a:stretch>
        </p:blipFill>
        <p:spPr>
          <a:xfrm>
            <a:off x="1516138" y="1295146"/>
            <a:ext cx="15473362" cy="7078385"/>
          </a:xfrm>
          <a:prstGeom prst="rect">
            <a:avLst/>
          </a:prstGeom>
        </p:spPr>
      </p:pic>
    </p:spTree>
    <p:extLst>
      <p:ext uri="{BB962C8B-B14F-4D97-AF65-F5344CB8AC3E}">
        <p14:creationId xmlns:p14="http://schemas.microsoft.com/office/powerpoint/2010/main" val="6290201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638499" y="9376575"/>
            <a:ext cx="3698801"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44</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1" name="Image 38">
            <a:extLst>
              <a:ext uri="{FF2B5EF4-FFF2-40B4-BE49-F238E27FC236}">
                <a16:creationId xmlns:a16="http://schemas.microsoft.com/office/drawing/2014/main" id="{DC83F4C1-9E4B-6B4C-88BD-EB90DDDC903F}"/>
              </a:ext>
            </a:extLst>
          </p:cNvPr>
          <p:cNvPicPr/>
          <p:nvPr/>
        </p:nvPicPr>
        <p:blipFill>
          <a:blip r:embed="rId2" cstate="print"/>
          <a:stretch>
            <a:fillRect/>
          </a:stretch>
        </p:blipFill>
        <p:spPr>
          <a:xfrm>
            <a:off x="800100" y="2559323"/>
            <a:ext cx="16421100" cy="3727177"/>
          </a:xfrm>
          <a:prstGeom prst="rect">
            <a:avLst/>
          </a:prstGeom>
        </p:spPr>
      </p:pic>
      <p:sp>
        <p:nvSpPr>
          <p:cNvPr id="4" name="Rectangle 3">
            <a:extLst>
              <a:ext uri="{FF2B5EF4-FFF2-40B4-BE49-F238E27FC236}">
                <a16:creationId xmlns:a16="http://schemas.microsoft.com/office/drawing/2014/main" id="{D9AEFCF4-A47C-694D-B016-13B192C21C4C}"/>
              </a:ext>
            </a:extLst>
          </p:cNvPr>
          <p:cNvSpPr/>
          <p:nvPr/>
        </p:nvSpPr>
        <p:spPr>
          <a:xfrm>
            <a:off x="5410200" y="6972300"/>
            <a:ext cx="6815135" cy="461665"/>
          </a:xfrm>
          <a:prstGeom prst="rect">
            <a:avLst/>
          </a:prstGeom>
        </p:spPr>
        <p:txBody>
          <a:bodyPr wrap="none">
            <a:spAutoFit/>
          </a:bodyPr>
          <a:lstStyle/>
          <a:p>
            <a:pPr marL="631825" marR="629920"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Figure:</a:t>
            </a:r>
            <a:r>
              <a:rPr lang="en-US" sz="2400" b="1" i="1" spc="-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Code</a:t>
            </a:r>
            <a:r>
              <a:rPr lang="en-US" sz="2400" b="1" i="1" spc="-1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2400" b="1" i="1" spc="-5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Analize</a:t>
            </a:r>
            <a:r>
              <a:rPr lang="en-US" sz="2400" b="1" i="1" spc="-1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Misclassifications</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6714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163800" y="9627318"/>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45</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39">
            <a:extLst>
              <a:ext uri="{FF2B5EF4-FFF2-40B4-BE49-F238E27FC236}">
                <a16:creationId xmlns:a16="http://schemas.microsoft.com/office/drawing/2014/main" id="{70D315A0-442D-194D-8097-E0C5E148289A}"/>
              </a:ext>
            </a:extLst>
          </p:cNvPr>
          <p:cNvPicPr/>
          <p:nvPr/>
        </p:nvPicPr>
        <p:blipFill>
          <a:blip r:embed="rId2" cstate="print"/>
          <a:stretch>
            <a:fillRect/>
          </a:stretch>
        </p:blipFill>
        <p:spPr>
          <a:xfrm>
            <a:off x="2039900" y="476686"/>
            <a:ext cx="14730302" cy="8754785"/>
          </a:xfrm>
          <a:prstGeom prst="rect">
            <a:avLst/>
          </a:prstGeom>
        </p:spPr>
      </p:pic>
      <p:sp>
        <p:nvSpPr>
          <p:cNvPr id="7" name="Rectangle 6">
            <a:extLst>
              <a:ext uri="{FF2B5EF4-FFF2-40B4-BE49-F238E27FC236}">
                <a16:creationId xmlns:a16="http://schemas.microsoft.com/office/drawing/2014/main" id="{1725E2B6-EBF5-E744-AA66-301F3E0CBB1F}"/>
              </a:ext>
            </a:extLst>
          </p:cNvPr>
          <p:cNvSpPr/>
          <p:nvPr/>
        </p:nvSpPr>
        <p:spPr>
          <a:xfrm>
            <a:off x="5181600" y="9231925"/>
            <a:ext cx="8868883" cy="753520"/>
          </a:xfrm>
          <a:prstGeom prst="rect">
            <a:avLst/>
          </a:prstGeom>
        </p:spPr>
        <p:txBody>
          <a:bodyPr wrap="square">
            <a:spAutoFit/>
          </a:bodyPr>
          <a:lstStyle/>
          <a:p>
            <a:pPr>
              <a:spcBef>
                <a:spcPts val="845"/>
              </a:spcBef>
              <a:spcAft>
                <a:spcPts val="0"/>
              </a:spcAft>
            </a:pPr>
            <a:r>
              <a:rPr lang="en-US" b="1" i="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marL="631825" marR="631825"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Confusion</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Matrix</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685945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163800" y="9627318"/>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46</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40">
            <a:extLst>
              <a:ext uri="{FF2B5EF4-FFF2-40B4-BE49-F238E27FC236}">
                <a16:creationId xmlns:a16="http://schemas.microsoft.com/office/drawing/2014/main" id="{9746E68D-62BF-A242-88A3-C99655B4B135}"/>
              </a:ext>
            </a:extLst>
          </p:cNvPr>
          <p:cNvPicPr/>
          <p:nvPr/>
        </p:nvPicPr>
        <p:blipFill>
          <a:blip r:embed="rId2" cstate="print"/>
          <a:stretch>
            <a:fillRect/>
          </a:stretch>
        </p:blipFill>
        <p:spPr>
          <a:xfrm>
            <a:off x="1905000" y="422479"/>
            <a:ext cx="14865202" cy="8830985"/>
          </a:xfrm>
          <a:prstGeom prst="rect">
            <a:avLst/>
          </a:prstGeom>
        </p:spPr>
      </p:pic>
      <p:sp>
        <p:nvSpPr>
          <p:cNvPr id="4" name="Rectangle 3">
            <a:extLst>
              <a:ext uri="{FF2B5EF4-FFF2-40B4-BE49-F238E27FC236}">
                <a16:creationId xmlns:a16="http://schemas.microsoft.com/office/drawing/2014/main" id="{3DAFA7C1-0904-D34F-A926-3E8933A5E97A}"/>
              </a:ext>
            </a:extLst>
          </p:cNvPr>
          <p:cNvSpPr/>
          <p:nvPr/>
        </p:nvSpPr>
        <p:spPr>
          <a:xfrm>
            <a:off x="6801169" y="9561424"/>
            <a:ext cx="5072864" cy="461665"/>
          </a:xfrm>
          <a:prstGeom prst="rect">
            <a:avLst/>
          </a:prstGeom>
        </p:spPr>
        <p:txBody>
          <a:bodyPr wrap="none">
            <a:spAutoFit/>
          </a:bodyPr>
          <a:lstStyle/>
          <a:p>
            <a:pPr marL="631825" marR="630555" algn="ctr">
              <a:spcBef>
                <a:spcPts val="380"/>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Facial</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Expression-</a:t>
            </a:r>
            <a:r>
              <a:rPr lang="en-US" sz="2400" b="1" i="1" spc="-50" dirty="0">
                <a:solidFill>
                  <a:schemeClr val="bg1"/>
                </a:solidFill>
                <a:latin typeface="Times New Roman" panose="02020603050405020304" pitchFamily="18" charset="0"/>
                <a:ea typeface="Times New Roman" panose="02020603050405020304" pitchFamily="18" charset="0"/>
              </a:rPr>
              <a:t>2</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636128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276216"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47</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41">
            <a:extLst>
              <a:ext uri="{FF2B5EF4-FFF2-40B4-BE49-F238E27FC236}">
                <a16:creationId xmlns:a16="http://schemas.microsoft.com/office/drawing/2014/main" id="{0BF03610-193D-EC4C-9439-646C411D6920}"/>
              </a:ext>
            </a:extLst>
          </p:cNvPr>
          <p:cNvPicPr/>
          <p:nvPr/>
        </p:nvPicPr>
        <p:blipFill>
          <a:blip r:embed="rId2" cstate="print"/>
          <a:stretch>
            <a:fillRect/>
          </a:stretch>
        </p:blipFill>
        <p:spPr>
          <a:xfrm>
            <a:off x="2161068" y="1110638"/>
            <a:ext cx="14772166" cy="7080862"/>
          </a:xfrm>
          <a:prstGeom prst="rect">
            <a:avLst/>
          </a:prstGeom>
        </p:spPr>
      </p:pic>
    </p:spTree>
    <p:extLst>
      <p:ext uri="{BB962C8B-B14F-4D97-AF65-F5344CB8AC3E}">
        <p14:creationId xmlns:p14="http://schemas.microsoft.com/office/powerpoint/2010/main" val="1634913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276216"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48</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42">
            <a:extLst>
              <a:ext uri="{FF2B5EF4-FFF2-40B4-BE49-F238E27FC236}">
                <a16:creationId xmlns:a16="http://schemas.microsoft.com/office/drawing/2014/main" id="{E5D00CD4-2501-CF4C-974B-CD6507E1FDA4}"/>
              </a:ext>
            </a:extLst>
          </p:cNvPr>
          <p:cNvPicPr/>
          <p:nvPr/>
        </p:nvPicPr>
        <p:blipFill>
          <a:blip r:embed="rId2" cstate="print"/>
          <a:stretch>
            <a:fillRect/>
          </a:stretch>
        </p:blipFill>
        <p:spPr>
          <a:xfrm>
            <a:off x="3240715" y="556482"/>
            <a:ext cx="13569802" cy="8529564"/>
          </a:xfrm>
          <a:prstGeom prst="rect">
            <a:avLst/>
          </a:prstGeom>
        </p:spPr>
      </p:pic>
      <p:sp>
        <p:nvSpPr>
          <p:cNvPr id="4" name="Rectangle 3">
            <a:extLst>
              <a:ext uri="{FF2B5EF4-FFF2-40B4-BE49-F238E27FC236}">
                <a16:creationId xmlns:a16="http://schemas.microsoft.com/office/drawing/2014/main" id="{8BEDC0F1-C7FF-D34F-980B-938899E9A7A9}"/>
              </a:ext>
            </a:extLst>
          </p:cNvPr>
          <p:cNvSpPr/>
          <p:nvPr/>
        </p:nvSpPr>
        <p:spPr>
          <a:xfrm>
            <a:off x="7505856" y="9499685"/>
            <a:ext cx="5039521" cy="461665"/>
          </a:xfrm>
          <a:prstGeom prst="rect">
            <a:avLst/>
          </a:prstGeom>
        </p:spPr>
        <p:txBody>
          <a:bodyPr wrap="none">
            <a:spAutoFit/>
          </a:bodyPr>
          <a:lstStyle/>
          <a:p>
            <a:pPr marL="631825" marR="631825" algn="ctr">
              <a:spcBef>
                <a:spcPts val="620"/>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3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Confusion</a:t>
            </a:r>
            <a:r>
              <a:rPr lang="en-US" sz="2400" b="1" i="1" spc="-2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Matrix-</a:t>
            </a:r>
            <a:r>
              <a:rPr lang="en-US" sz="2400" b="1" i="1" spc="-50" dirty="0">
                <a:solidFill>
                  <a:schemeClr val="bg1"/>
                </a:solidFill>
                <a:latin typeface="Times New Roman" panose="02020603050405020304" pitchFamily="18" charset="0"/>
                <a:ea typeface="Times New Roman" panose="02020603050405020304" pitchFamily="18" charset="0"/>
              </a:rPr>
              <a:t>2</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185341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24949"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49</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44">
            <a:extLst>
              <a:ext uri="{FF2B5EF4-FFF2-40B4-BE49-F238E27FC236}">
                <a16:creationId xmlns:a16="http://schemas.microsoft.com/office/drawing/2014/main" id="{CAD169DF-58C7-F041-960F-9E9BDFC085B1}"/>
              </a:ext>
            </a:extLst>
          </p:cNvPr>
          <p:cNvPicPr/>
          <p:nvPr/>
        </p:nvPicPr>
        <p:blipFill>
          <a:blip r:embed="rId2" cstate="print"/>
          <a:stretch>
            <a:fillRect/>
          </a:stretch>
        </p:blipFill>
        <p:spPr>
          <a:xfrm>
            <a:off x="1354766" y="1784304"/>
            <a:ext cx="15578468" cy="6631390"/>
          </a:xfrm>
          <a:prstGeom prst="rect">
            <a:avLst/>
          </a:prstGeom>
        </p:spPr>
      </p:pic>
      <p:sp>
        <p:nvSpPr>
          <p:cNvPr id="7" name="Rectangle 6">
            <a:extLst>
              <a:ext uri="{FF2B5EF4-FFF2-40B4-BE49-F238E27FC236}">
                <a16:creationId xmlns:a16="http://schemas.microsoft.com/office/drawing/2014/main" id="{F274F7BB-6E49-434E-81CB-A5F94FE7364D}"/>
              </a:ext>
            </a:extLst>
          </p:cNvPr>
          <p:cNvSpPr/>
          <p:nvPr/>
        </p:nvSpPr>
        <p:spPr>
          <a:xfrm>
            <a:off x="5859690" y="8679468"/>
            <a:ext cx="6731651" cy="461665"/>
          </a:xfrm>
          <a:prstGeom prst="rect">
            <a:avLst/>
          </a:prstGeom>
        </p:spPr>
        <p:txBody>
          <a:bodyPr wrap="none">
            <a:spAutoFit/>
          </a:bodyPr>
          <a:lstStyle/>
          <a:p>
            <a:pPr marL="631825" marR="631825"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3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Visualize</a:t>
            </a:r>
            <a:r>
              <a:rPr lang="en-US" sz="2400" b="1" i="1" spc="-3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More</a:t>
            </a:r>
            <a:r>
              <a:rPr lang="en-US" sz="2400" b="1" i="1" spc="-40"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Misclassifications</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47960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721550" y="9759757"/>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50</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46">
            <a:extLst>
              <a:ext uri="{FF2B5EF4-FFF2-40B4-BE49-F238E27FC236}">
                <a16:creationId xmlns:a16="http://schemas.microsoft.com/office/drawing/2014/main" id="{3397A1BC-7160-0944-86C5-BF14680CF977}"/>
              </a:ext>
            </a:extLst>
          </p:cNvPr>
          <p:cNvPicPr/>
          <p:nvPr/>
        </p:nvPicPr>
        <p:blipFill>
          <a:blip r:embed="rId2" cstate="print"/>
          <a:stretch>
            <a:fillRect/>
          </a:stretch>
        </p:blipFill>
        <p:spPr>
          <a:xfrm>
            <a:off x="2071133" y="527242"/>
            <a:ext cx="14311867" cy="8696982"/>
          </a:xfrm>
          <a:prstGeom prst="rect">
            <a:avLst/>
          </a:prstGeom>
        </p:spPr>
      </p:pic>
      <p:sp>
        <p:nvSpPr>
          <p:cNvPr id="4" name="Rectangle 3">
            <a:extLst>
              <a:ext uri="{FF2B5EF4-FFF2-40B4-BE49-F238E27FC236}">
                <a16:creationId xmlns:a16="http://schemas.microsoft.com/office/drawing/2014/main" id="{3EAE9C48-4E1D-704E-BBA0-1D6DE26414C5}"/>
              </a:ext>
            </a:extLst>
          </p:cNvPr>
          <p:cNvSpPr/>
          <p:nvPr/>
        </p:nvSpPr>
        <p:spPr>
          <a:xfrm>
            <a:off x="6689084" y="9528925"/>
            <a:ext cx="5072864" cy="461665"/>
          </a:xfrm>
          <a:prstGeom prst="rect">
            <a:avLst/>
          </a:prstGeom>
        </p:spPr>
        <p:txBody>
          <a:bodyPr wrap="none">
            <a:spAutoFit/>
          </a:bodyPr>
          <a:lstStyle/>
          <a:p>
            <a:pPr marL="631825" marR="630555" algn="ctr">
              <a:spcBef>
                <a:spcPts val="755"/>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Facial</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Expression-</a:t>
            </a:r>
            <a:r>
              <a:rPr lang="en-US" sz="2400" b="1" i="1" spc="-50" dirty="0">
                <a:solidFill>
                  <a:schemeClr val="bg1"/>
                </a:solidFill>
                <a:latin typeface="Times New Roman" panose="02020603050405020304" pitchFamily="18" charset="0"/>
                <a:ea typeface="Times New Roman" panose="02020603050405020304" pitchFamily="18" charset="0"/>
              </a:rPr>
              <a:t>3</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906934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087600" y="9730518"/>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51</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47">
            <a:extLst>
              <a:ext uri="{FF2B5EF4-FFF2-40B4-BE49-F238E27FC236}">
                <a16:creationId xmlns:a16="http://schemas.microsoft.com/office/drawing/2014/main" id="{ADB07768-D552-0146-B401-A2FB8B32531E}"/>
              </a:ext>
            </a:extLst>
          </p:cNvPr>
          <p:cNvPicPr/>
          <p:nvPr/>
        </p:nvPicPr>
        <p:blipFill>
          <a:blip r:embed="rId2" cstate="print"/>
          <a:stretch>
            <a:fillRect/>
          </a:stretch>
        </p:blipFill>
        <p:spPr>
          <a:xfrm>
            <a:off x="1251099" y="1387479"/>
            <a:ext cx="15424296" cy="7370232"/>
          </a:xfrm>
          <a:prstGeom prst="rect">
            <a:avLst/>
          </a:prstGeom>
        </p:spPr>
      </p:pic>
    </p:spTree>
    <p:extLst>
      <p:ext uri="{BB962C8B-B14F-4D97-AF65-F5344CB8AC3E}">
        <p14:creationId xmlns:p14="http://schemas.microsoft.com/office/powerpoint/2010/main" val="17856352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621000" y="9730518"/>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52</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48">
            <a:extLst>
              <a:ext uri="{FF2B5EF4-FFF2-40B4-BE49-F238E27FC236}">
                <a16:creationId xmlns:a16="http://schemas.microsoft.com/office/drawing/2014/main" id="{ACB45835-00FF-8048-A054-7833055E2858}"/>
              </a:ext>
            </a:extLst>
          </p:cNvPr>
          <p:cNvPicPr/>
          <p:nvPr/>
        </p:nvPicPr>
        <p:blipFill>
          <a:blip r:embed="rId2" cstate="print"/>
          <a:stretch>
            <a:fillRect/>
          </a:stretch>
        </p:blipFill>
        <p:spPr>
          <a:xfrm>
            <a:off x="1020726" y="1265514"/>
            <a:ext cx="16230600" cy="7987949"/>
          </a:xfrm>
          <a:prstGeom prst="rect">
            <a:avLst/>
          </a:prstGeom>
        </p:spPr>
      </p:pic>
      <p:sp>
        <p:nvSpPr>
          <p:cNvPr id="4" name="Rectangle 3">
            <a:extLst>
              <a:ext uri="{FF2B5EF4-FFF2-40B4-BE49-F238E27FC236}">
                <a16:creationId xmlns:a16="http://schemas.microsoft.com/office/drawing/2014/main" id="{A4CB88E7-EB18-0044-8E6B-417DE246E226}"/>
              </a:ext>
            </a:extLst>
          </p:cNvPr>
          <p:cNvSpPr/>
          <p:nvPr/>
        </p:nvSpPr>
        <p:spPr>
          <a:xfrm>
            <a:off x="5707709" y="9486655"/>
            <a:ext cx="6779548" cy="461665"/>
          </a:xfrm>
          <a:prstGeom prst="rect">
            <a:avLst/>
          </a:prstGeom>
        </p:spPr>
        <p:txBody>
          <a:bodyPr wrap="none">
            <a:spAutoFit/>
          </a:bodyPr>
          <a:lstStyle/>
          <a:p>
            <a:pPr marL="631825" marR="631190" algn="ctr">
              <a:spcBef>
                <a:spcPts val="940"/>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Data</a:t>
            </a:r>
            <a:r>
              <a:rPr lang="en-US" sz="2400" b="1" i="1" spc="-6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Augmentation</a:t>
            </a:r>
            <a:r>
              <a:rPr lang="en-US" sz="2400" b="1" i="1" spc="-1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with</a:t>
            </a:r>
            <a:r>
              <a:rPr lang="en-US" sz="2400" b="1" i="1" spc="-10" dirty="0">
                <a:solidFill>
                  <a:schemeClr val="bg1"/>
                </a:solidFill>
                <a:latin typeface="Times New Roman" panose="02020603050405020304" pitchFamily="18" charset="0"/>
                <a:ea typeface="Times New Roman" panose="02020603050405020304" pitchFamily="18" charset="0"/>
              </a:rPr>
              <a:t> OpenCV</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608494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697200" y="9730518"/>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53</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49">
            <a:extLst>
              <a:ext uri="{FF2B5EF4-FFF2-40B4-BE49-F238E27FC236}">
                <a16:creationId xmlns:a16="http://schemas.microsoft.com/office/drawing/2014/main" id="{BE39B334-9D02-A043-9F9F-45BE15198E45}"/>
              </a:ext>
            </a:extLst>
          </p:cNvPr>
          <p:cNvPicPr/>
          <p:nvPr/>
        </p:nvPicPr>
        <p:blipFill>
          <a:blip r:embed="rId2" cstate="print"/>
          <a:stretch>
            <a:fillRect/>
          </a:stretch>
        </p:blipFill>
        <p:spPr>
          <a:xfrm>
            <a:off x="749595" y="1037966"/>
            <a:ext cx="16579702" cy="7983519"/>
          </a:xfrm>
          <a:prstGeom prst="rect">
            <a:avLst/>
          </a:prstGeom>
        </p:spPr>
      </p:pic>
    </p:spTree>
    <p:extLst>
      <p:ext uri="{BB962C8B-B14F-4D97-AF65-F5344CB8AC3E}">
        <p14:creationId xmlns:p14="http://schemas.microsoft.com/office/powerpoint/2010/main" val="17306832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697200" y="9730518"/>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54</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50">
            <a:extLst>
              <a:ext uri="{FF2B5EF4-FFF2-40B4-BE49-F238E27FC236}">
                <a16:creationId xmlns:a16="http://schemas.microsoft.com/office/drawing/2014/main" id="{865A1123-3ED8-6D4A-8742-FCD060F931BB}"/>
              </a:ext>
            </a:extLst>
          </p:cNvPr>
          <p:cNvPicPr/>
          <p:nvPr/>
        </p:nvPicPr>
        <p:blipFill>
          <a:blip r:embed="rId2" cstate="print"/>
          <a:stretch>
            <a:fillRect/>
          </a:stretch>
        </p:blipFill>
        <p:spPr>
          <a:xfrm>
            <a:off x="658333" y="2593879"/>
            <a:ext cx="16687799" cy="5331327"/>
          </a:xfrm>
          <a:prstGeom prst="rect">
            <a:avLst/>
          </a:prstGeom>
        </p:spPr>
      </p:pic>
      <p:sp>
        <p:nvSpPr>
          <p:cNvPr id="4" name="Rectangle 3">
            <a:extLst>
              <a:ext uri="{FF2B5EF4-FFF2-40B4-BE49-F238E27FC236}">
                <a16:creationId xmlns:a16="http://schemas.microsoft.com/office/drawing/2014/main" id="{F1587A33-2AC8-FC4A-B672-07E66BEF8572}"/>
              </a:ext>
            </a:extLst>
          </p:cNvPr>
          <p:cNvSpPr/>
          <p:nvPr/>
        </p:nvSpPr>
        <p:spPr>
          <a:xfrm>
            <a:off x="3628004" y="8487177"/>
            <a:ext cx="10938957" cy="461665"/>
          </a:xfrm>
          <a:prstGeom prst="rect">
            <a:avLst/>
          </a:prstGeom>
        </p:spPr>
        <p:txBody>
          <a:bodyPr wrap="none">
            <a:spAutoFit/>
          </a:bodyPr>
          <a:lstStyle/>
          <a:p>
            <a:pPr marL="631825" marR="632460"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Train</a:t>
            </a:r>
            <a:r>
              <a:rPr lang="en-US" sz="2400" b="1" i="1" spc="-1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Random</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Forest</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Model</a:t>
            </a:r>
            <a:r>
              <a:rPr lang="en-US" sz="2400" b="1" i="1" spc="-6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After</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Performing</a:t>
            </a:r>
            <a:r>
              <a:rPr lang="en-US" sz="2400" b="1" i="1" spc="-1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Data</a:t>
            </a:r>
            <a:r>
              <a:rPr lang="en-US" sz="2400" b="1" i="1" spc="-60"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Augmentation</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314549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325600" y="9730518"/>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55</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51">
            <a:extLst>
              <a:ext uri="{FF2B5EF4-FFF2-40B4-BE49-F238E27FC236}">
                <a16:creationId xmlns:a16="http://schemas.microsoft.com/office/drawing/2014/main" id="{254B6A1D-FFD4-0143-9FC5-CFC41010D8B2}"/>
              </a:ext>
            </a:extLst>
          </p:cNvPr>
          <p:cNvPicPr/>
          <p:nvPr/>
        </p:nvPicPr>
        <p:blipFill>
          <a:blip r:embed="rId2" cstate="print"/>
          <a:stretch>
            <a:fillRect/>
          </a:stretch>
        </p:blipFill>
        <p:spPr>
          <a:xfrm>
            <a:off x="1905000" y="1265515"/>
            <a:ext cx="13885234" cy="7755970"/>
          </a:xfrm>
          <a:prstGeom prst="rect">
            <a:avLst/>
          </a:prstGeom>
        </p:spPr>
      </p:pic>
      <p:sp>
        <p:nvSpPr>
          <p:cNvPr id="7" name="Rectangle 6">
            <a:extLst>
              <a:ext uri="{FF2B5EF4-FFF2-40B4-BE49-F238E27FC236}">
                <a16:creationId xmlns:a16="http://schemas.microsoft.com/office/drawing/2014/main" id="{75EB7ABD-D6CC-4544-BB72-18FD6C355D8B}"/>
              </a:ext>
            </a:extLst>
          </p:cNvPr>
          <p:cNvSpPr/>
          <p:nvPr/>
        </p:nvSpPr>
        <p:spPr>
          <a:xfrm>
            <a:off x="5822230" y="9361186"/>
            <a:ext cx="7283405" cy="461665"/>
          </a:xfrm>
          <a:prstGeom prst="rect">
            <a:avLst/>
          </a:prstGeom>
        </p:spPr>
        <p:txBody>
          <a:bodyPr wrap="none">
            <a:spAutoFit/>
          </a:bodyPr>
          <a:lstStyle/>
          <a:p>
            <a:pPr marL="631825" marR="631190" algn="ctr">
              <a:spcBef>
                <a:spcPts val="5"/>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Confusion</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Matrix</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for</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Random</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Forest</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823913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935200"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56</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52">
            <a:extLst>
              <a:ext uri="{FF2B5EF4-FFF2-40B4-BE49-F238E27FC236}">
                <a16:creationId xmlns:a16="http://schemas.microsoft.com/office/drawing/2014/main" id="{EC118E3E-C53E-9F44-8BA8-D4FBBCC48FC4}"/>
              </a:ext>
            </a:extLst>
          </p:cNvPr>
          <p:cNvPicPr/>
          <p:nvPr/>
        </p:nvPicPr>
        <p:blipFill>
          <a:blip r:embed="rId2" cstate="print"/>
          <a:stretch>
            <a:fillRect/>
          </a:stretch>
        </p:blipFill>
        <p:spPr>
          <a:xfrm>
            <a:off x="1858482" y="1619458"/>
            <a:ext cx="14734067" cy="6572042"/>
          </a:xfrm>
          <a:prstGeom prst="rect">
            <a:avLst/>
          </a:prstGeom>
        </p:spPr>
      </p:pic>
      <p:sp>
        <p:nvSpPr>
          <p:cNvPr id="4" name="Rectangle 3">
            <a:extLst>
              <a:ext uri="{FF2B5EF4-FFF2-40B4-BE49-F238E27FC236}">
                <a16:creationId xmlns:a16="http://schemas.microsoft.com/office/drawing/2014/main" id="{36305F2F-B905-2745-8C9E-7884B9A15A0D}"/>
              </a:ext>
            </a:extLst>
          </p:cNvPr>
          <p:cNvSpPr/>
          <p:nvPr/>
        </p:nvSpPr>
        <p:spPr>
          <a:xfrm>
            <a:off x="6324600" y="8614760"/>
            <a:ext cx="6461384" cy="461665"/>
          </a:xfrm>
          <a:prstGeom prst="rect">
            <a:avLst/>
          </a:prstGeom>
        </p:spPr>
        <p:txBody>
          <a:bodyPr wrap="none">
            <a:spAutoFit/>
          </a:bodyPr>
          <a:lstStyle/>
          <a:p>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Figure:</a:t>
            </a:r>
            <a:r>
              <a:rPr lang="en-US" sz="2400" b="1" i="1" spc="-2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Classification</a:t>
            </a:r>
            <a:r>
              <a:rPr lang="en-US" sz="2400" b="1" i="1" spc="-3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Report</a:t>
            </a:r>
            <a:r>
              <a:rPr lang="en-US" sz="2400" b="1" i="1" spc="-2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for</a:t>
            </a:r>
            <a:r>
              <a:rPr lang="en-US" sz="2400" b="1" i="1" spc="-2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Random</a:t>
            </a:r>
            <a:r>
              <a:rPr lang="en-US" sz="2400" b="1" i="1" spc="-2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Forest</a:t>
            </a:r>
            <a:r>
              <a:rPr lang="en-US" sz="2400"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062708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721550" y="9268853"/>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57</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53">
            <a:extLst>
              <a:ext uri="{FF2B5EF4-FFF2-40B4-BE49-F238E27FC236}">
                <a16:creationId xmlns:a16="http://schemas.microsoft.com/office/drawing/2014/main" id="{CEE32E87-4D7B-294B-9080-40C714681E9D}"/>
              </a:ext>
            </a:extLst>
          </p:cNvPr>
          <p:cNvPicPr/>
          <p:nvPr/>
        </p:nvPicPr>
        <p:blipFill>
          <a:blip r:embed="rId2" cstate="print"/>
          <a:stretch>
            <a:fillRect/>
          </a:stretch>
        </p:blipFill>
        <p:spPr>
          <a:xfrm>
            <a:off x="1219200" y="1033536"/>
            <a:ext cx="15153167" cy="7310364"/>
          </a:xfrm>
          <a:prstGeom prst="rect">
            <a:avLst/>
          </a:prstGeom>
        </p:spPr>
      </p:pic>
      <p:sp>
        <p:nvSpPr>
          <p:cNvPr id="4" name="Rectangle 3">
            <a:extLst>
              <a:ext uri="{FF2B5EF4-FFF2-40B4-BE49-F238E27FC236}">
                <a16:creationId xmlns:a16="http://schemas.microsoft.com/office/drawing/2014/main" id="{148DA2C7-2347-4747-9DD8-596BB5A6B04C}"/>
              </a:ext>
            </a:extLst>
          </p:cNvPr>
          <p:cNvSpPr/>
          <p:nvPr/>
        </p:nvSpPr>
        <p:spPr>
          <a:xfrm>
            <a:off x="6006383" y="8858798"/>
            <a:ext cx="5808771" cy="461665"/>
          </a:xfrm>
          <a:prstGeom prst="rect">
            <a:avLst/>
          </a:prstGeom>
        </p:spPr>
        <p:txBody>
          <a:bodyPr wrap="none">
            <a:spAutoFit/>
          </a:bodyPr>
          <a:lstStyle/>
          <a:p>
            <a:pPr marL="631825" marR="631825" algn="ctr">
              <a:spcBef>
                <a:spcPts val="1200"/>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Figure:</a:t>
            </a:r>
            <a:r>
              <a:rPr lang="en-US" sz="2400" b="1" i="1" spc="-6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Analize</a:t>
            </a:r>
            <a:r>
              <a:rPr lang="en-US" sz="2400" b="1" i="1" spc="-1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Class</a:t>
            </a:r>
            <a:r>
              <a:rPr lang="en-US" sz="2400" b="1" i="1" spc="-5"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Distribution</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795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24949" y="9583187"/>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58</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54">
            <a:extLst>
              <a:ext uri="{FF2B5EF4-FFF2-40B4-BE49-F238E27FC236}">
                <a16:creationId xmlns:a16="http://schemas.microsoft.com/office/drawing/2014/main" id="{C4989398-6924-7C49-85A8-CA18FD343059}"/>
              </a:ext>
            </a:extLst>
          </p:cNvPr>
          <p:cNvPicPr/>
          <p:nvPr/>
        </p:nvPicPr>
        <p:blipFill>
          <a:blip r:embed="rId2" cstate="print"/>
          <a:stretch>
            <a:fillRect/>
          </a:stretch>
        </p:blipFill>
        <p:spPr>
          <a:xfrm>
            <a:off x="3733800" y="720118"/>
            <a:ext cx="10021299" cy="8056200"/>
          </a:xfrm>
          <a:prstGeom prst="rect">
            <a:avLst/>
          </a:prstGeom>
        </p:spPr>
      </p:pic>
      <p:sp>
        <p:nvSpPr>
          <p:cNvPr id="7" name="Rectangle 6">
            <a:extLst>
              <a:ext uri="{FF2B5EF4-FFF2-40B4-BE49-F238E27FC236}">
                <a16:creationId xmlns:a16="http://schemas.microsoft.com/office/drawing/2014/main" id="{8EF982EB-5650-7C49-B8B8-D6769264133B}"/>
              </a:ext>
            </a:extLst>
          </p:cNvPr>
          <p:cNvSpPr/>
          <p:nvPr/>
        </p:nvSpPr>
        <p:spPr>
          <a:xfrm>
            <a:off x="6347799" y="9215488"/>
            <a:ext cx="4793300" cy="461665"/>
          </a:xfrm>
          <a:prstGeom prst="rect">
            <a:avLst/>
          </a:prstGeom>
        </p:spPr>
        <p:txBody>
          <a:bodyPr wrap="none">
            <a:spAutoFit/>
          </a:bodyPr>
          <a:lstStyle/>
          <a:p>
            <a:pPr marL="631825" marR="631825"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Class</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Distribution</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098006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24949" y="9641374"/>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59</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55">
            <a:extLst>
              <a:ext uri="{FF2B5EF4-FFF2-40B4-BE49-F238E27FC236}">
                <a16:creationId xmlns:a16="http://schemas.microsoft.com/office/drawing/2014/main" id="{67BD3D26-15E5-FE41-B23D-A13AB2AF9FF7}"/>
              </a:ext>
            </a:extLst>
          </p:cNvPr>
          <p:cNvPicPr/>
          <p:nvPr/>
        </p:nvPicPr>
        <p:blipFill>
          <a:blip r:embed="rId2" cstate="print"/>
          <a:stretch>
            <a:fillRect/>
          </a:stretch>
        </p:blipFill>
        <p:spPr>
          <a:xfrm>
            <a:off x="2031662" y="703813"/>
            <a:ext cx="14933471" cy="8210976"/>
          </a:xfrm>
          <a:prstGeom prst="rect">
            <a:avLst/>
          </a:prstGeom>
        </p:spPr>
      </p:pic>
    </p:spTree>
    <p:extLst>
      <p:ext uri="{BB962C8B-B14F-4D97-AF65-F5344CB8AC3E}">
        <p14:creationId xmlns:p14="http://schemas.microsoft.com/office/powerpoint/2010/main" val="9793281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24949" y="9641374"/>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60</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56">
            <a:extLst>
              <a:ext uri="{FF2B5EF4-FFF2-40B4-BE49-F238E27FC236}">
                <a16:creationId xmlns:a16="http://schemas.microsoft.com/office/drawing/2014/main" id="{493F7C92-7D3E-6144-9970-4EA4388D79B7}"/>
              </a:ext>
            </a:extLst>
          </p:cNvPr>
          <p:cNvPicPr/>
          <p:nvPr/>
        </p:nvPicPr>
        <p:blipFill>
          <a:blip r:embed="rId2" cstate="print"/>
          <a:stretch>
            <a:fillRect/>
          </a:stretch>
        </p:blipFill>
        <p:spPr>
          <a:xfrm>
            <a:off x="834655" y="2875375"/>
            <a:ext cx="16107439" cy="4540820"/>
          </a:xfrm>
          <a:prstGeom prst="rect">
            <a:avLst/>
          </a:prstGeom>
        </p:spPr>
      </p:pic>
      <p:sp>
        <p:nvSpPr>
          <p:cNvPr id="4" name="Rectangle 3">
            <a:extLst>
              <a:ext uri="{FF2B5EF4-FFF2-40B4-BE49-F238E27FC236}">
                <a16:creationId xmlns:a16="http://schemas.microsoft.com/office/drawing/2014/main" id="{5990F1D4-6BB0-E846-9400-EF92D95CD80E}"/>
              </a:ext>
            </a:extLst>
          </p:cNvPr>
          <p:cNvSpPr/>
          <p:nvPr/>
        </p:nvSpPr>
        <p:spPr>
          <a:xfrm>
            <a:off x="4316374" y="7438842"/>
            <a:ext cx="9144000" cy="738664"/>
          </a:xfrm>
          <a:prstGeom prst="rect">
            <a:avLst/>
          </a:prstGeom>
        </p:spPr>
        <p:txBody>
          <a:bodyPr>
            <a:spAutoFit/>
          </a:bodyPr>
          <a:lstStyle/>
          <a:p>
            <a:pPr>
              <a:spcBef>
                <a:spcPts val="1095"/>
              </a:spcBef>
              <a:spcAft>
                <a:spcPts val="0"/>
              </a:spcAft>
            </a:pPr>
            <a:r>
              <a:rPr lang="en-US" b="1" i="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marL="631825" marR="631825"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7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Adjusting</a:t>
            </a:r>
            <a:r>
              <a:rPr lang="en-US" sz="2400" b="1" i="1" spc="-1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the</a:t>
            </a:r>
            <a:r>
              <a:rPr lang="en-US" sz="2400" b="1" i="1" spc="-7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Augmentation</a:t>
            </a:r>
            <a:r>
              <a:rPr lang="en-US" sz="2400" b="1" i="1" spc="-10" dirty="0">
                <a:solidFill>
                  <a:schemeClr val="bg1"/>
                </a:solidFill>
                <a:latin typeface="Times New Roman" panose="02020603050405020304" pitchFamily="18" charset="0"/>
                <a:ea typeface="Times New Roman" panose="02020603050405020304" pitchFamily="18" charset="0"/>
              </a:rPr>
              <a:t> </a:t>
            </a:r>
            <a:r>
              <a:rPr lang="en-US" sz="2400" b="1" i="1" spc="-20" dirty="0">
                <a:solidFill>
                  <a:schemeClr val="bg1"/>
                </a:solidFill>
                <a:latin typeface="Times New Roman" panose="02020603050405020304" pitchFamily="18" charset="0"/>
                <a:ea typeface="Times New Roman" panose="02020603050405020304" pitchFamily="18" charset="0"/>
              </a:rPr>
              <a:t>Code</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17866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621000" y="9617224"/>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61</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57">
            <a:extLst>
              <a:ext uri="{FF2B5EF4-FFF2-40B4-BE49-F238E27FC236}">
                <a16:creationId xmlns:a16="http://schemas.microsoft.com/office/drawing/2014/main" id="{4B752123-84D3-F641-A5FA-17771A4C3835}"/>
              </a:ext>
            </a:extLst>
          </p:cNvPr>
          <p:cNvPicPr/>
          <p:nvPr/>
        </p:nvPicPr>
        <p:blipFill>
          <a:blip r:embed="rId2" cstate="print"/>
          <a:stretch>
            <a:fillRect/>
          </a:stretch>
        </p:blipFill>
        <p:spPr>
          <a:xfrm>
            <a:off x="1196162" y="917093"/>
            <a:ext cx="16058708" cy="8104392"/>
          </a:xfrm>
          <a:prstGeom prst="rect">
            <a:avLst/>
          </a:prstGeom>
        </p:spPr>
      </p:pic>
    </p:spTree>
    <p:extLst>
      <p:ext uri="{BB962C8B-B14F-4D97-AF65-F5344CB8AC3E}">
        <p14:creationId xmlns:p14="http://schemas.microsoft.com/office/powerpoint/2010/main" val="23710013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24949"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62</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58">
            <a:extLst>
              <a:ext uri="{FF2B5EF4-FFF2-40B4-BE49-F238E27FC236}">
                <a16:creationId xmlns:a16="http://schemas.microsoft.com/office/drawing/2014/main" id="{CE9B948D-6DE1-5844-AE5C-FC2F9E522749}"/>
              </a:ext>
            </a:extLst>
          </p:cNvPr>
          <p:cNvPicPr/>
          <p:nvPr/>
        </p:nvPicPr>
        <p:blipFill>
          <a:blip r:embed="rId2" cstate="print"/>
          <a:stretch>
            <a:fillRect/>
          </a:stretch>
        </p:blipFill>
        <p:spPr>
          <a:xfrm>
            <a:off x="1637414" y="1630977"/>
            <a:ext cx="15333034" cy="5341323"/>
          </a:xfrm>
          <a:prstGeom prst="rect">
            <a:avLst/>
          </a:prstGeom>
        </p:spPr>
      </p:pic>
      <p:sp>
        <p:nvSpPr>
          <p:cNvPr id="7" name="Rectangle 6">
            <a:extLst>
              <a:ext uri="{FF2B5EF4-FFF2-40B4-BE49-F238E27FC236}">
                <a16:creationId xmlns:a16="http://schemas.microsoft.com/office/drawing/2014/main" id="{824FE11C-FF37-334D-85FB-DF731B3D5AF6}"/>
              </a:ext>
            </a:extLst>
          </p:cNvPr>
          <p:cNvSpPr/>
          <p:nvPr/>
        </p:nvSpPr>
        <p:spPr>
          <a:xfrm>
            <a:off x="4745920" y="7543495"/>
            <a:ext cx="9116022" cy="461665"/>
          </a:xfrm>
          <a:prstGeom prst="rect">
            <a:avLst/>
          </a:prstGeom>
        </p:spPr>
        <p:txBody>
          <a:bodyPr wrap="none">
            <a:spAutoFit/>
          </a:bodyPr>
          <a:lstStyle/>
          <a:p>
            <a:pPr marL="631825" marR="632460" algn="ctr">
              <a:spcBef>
                <a:spcPts val="5"/>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3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Continue</a:t>
            </a:r>
            <a:r>
              <a:rPr lang="en-US" sz="2400" b="1" i="1" spc="-2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with</a:t>
            </a:r>
            <a:r>
              <a:rPr lang="en-US" sz="2400" b="1" i="1" spc="-3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Model</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Training</a:t>
            </a:r>
            <a:r>
              <a:rPr lang="en-US" sz="2400" b="1" i="1" spc="-7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After</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this</a:t>
            </a:r>
            <a:r>
              <a:rPr lang="en-US" sz="2400" b="1" i="1" spc="-65"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Adjustment</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19207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24949"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63</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10" name="Image 59">
            <a:extLst>
              <a:ext uri="{FF2B5EF4-FFF2-40B4-BE49-F238E27FC236}">
                <a16:creationId xmlns:a16="http://schemas.microsoft.com/office/drawing/2014/main" id="{C89E71F6-B6BF-5746-A6DD-960FA9ACA40C}"/>
              </a:ext>
            </a:extLst>
          </p:cNvPr>
          <p:cNvPicPr/>
          <p:nvPr/>
        </p:nvPicPr>
        <p:blipFill>
          <a:blip r:embed="rId2" cstate="print"/>
          <a:stretch>
            <a:fillRect/>
          </a:stretch>
        </p:blipFill>
        <p:spPr>
          <a:xfrm>
            <a:off x="2971800" y="820256"/>
            <a:ext cx="11589266" cy="8201229"/>
          </a:xfrm>
          <a:prstGeom prst="rect">
            <a:avLst/>
          </a:prstGeom>
        </p:spPr>
      </p:pic>
      <p:sp>
        <p:nvSpPr>
          <p:cNvPr id="4" name="Rectangle 3">
            <a:extLst>
              <a:ext uri="{FF2B5EF4-FFF2-40B4-BE49-F238E27FC236}">
                <a16:creationId xmlns:a16="http://schemas.microsoft.com/office/drawing/2014/main" id="{ACF7A959-9C18-0640-B761-87DC06E92E4B}"/>
              </a:ext>
            </a:extLst>
          </p:cNvPr>
          <p:cNvSpPr/>
          <p:nvPr/>
        </p:nvSpPr>
        <p:spPr>
          <a:xfrm>
            <a:off x="4230542" y="9361185"/>
            <a:ext cx="9733883" cy="461665"/>
          </a:xfrm>
          <a:prstGeom prst="rect">
            <a:avLst/>
          </a:prstGeom>
        </p:spPr>
        <p:txBody>
          <a:bodyPr wrap="none">
            <a:spAutoFit/>
          </a:bodyPr>
          <a:lstStyle/>
          <a:p>
            <a:pPr marL="631825" marR="632460" algn="ctr">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2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Confusion</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Matrix</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for</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Random</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Forest</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with</a:t>
            </a:r>
            <a:r>
              <a:rPr lang="en-US" sz="2400" b="1" i="1" spc="-1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Class</a:t>
            </a:r>
            <a:r>
              <a:rPr lang="en-US" sz="2400" b="1" i="1" spc="-35"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Weights</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988433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24949"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64</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9" name="Image 61">
            <a:extLst>
              <a:ext uri="{FF2B5EF4-FFF2-40B4-BE49-F238E27FC236}">
                <a16:creationId xmlns:a16="http://schemas.microsoft.com/office/drawing/2014/main" id="{3787B585-4F32-7F46-944F-0FC50CD27D85}"/>
              </a:ext>
            </a:extLst>
          </p:cNvPr>
          <p:cNvPicPr/>
          <p:nvPr/>
        </p:nvPicPr>
        <p:blipFill>
          <a:blip r:embed="rId2" cstate="print"/>
          <a:stretch>
            <a:fillRect/>
          </a:stretch>
        </p:blipFill>
        <p:spPr>
          <a:xfrm>
            <a:off x="2411197" y="1529289"/>
            <a:ext cx="14491911" cy="6515354"/>
          </a:xfrm>
          <a:prstGeom prst="rect">
            <a:avLst/>
          </a:prstGeom>
        </p:spPr>
      </p:pic>
      <p:sp>
        <p:nvSpPr>
          <p:cNvPr id="7" name="Rectangle 6">
            <a:extLst>
              <a:ext uri="{FF2B5EF4-FFF2-40B4-BE49-F238E27FC236}">
                <a16:creationId xmlns:a16="http://schemas.microsoft.com/office/drawing/2014/main" id="{3C7A38A2-39B9-3340-897B-E5C99FA626A7}"/>
              </a:ext>
            </a:extLst>
          </p:cNvPr>
          <p:cNvSpPr/>
          <p:nvPr/>
        </p:nvSpPr>
        <p:spPr>
          <a:xfrm>
            <a:off x="4400718" y="8413354"/>
            <a:ext cx="10117643" cy="461665"/>
          </a:xfrm>
          <a:prstGeom prst="rect">
            <a:avLst/>
          </a:prstGeom>
        </p:spPr>
        <p:txBody>
          <a:bodyPr wrap="none">
            <a:spAutoFit/>
          </a:bodyPr>
          <a:lstStyle/>
          <a:p>
            <a:pPr marL="631825" marR="629920" algn="ctr">
              <a:spcBef>
                <a:spcPts val="1200"/>
              </a:spcBef>
              <a:spcAft>
                <a:spcPts val="0"/>
              </a:spcAft>
            </a:pPr>
            <a:r>
              <a:rPr lang="en-US" sz="2400" b="1" i="1" dirty="0">
                <a:solidFill>
                  <a:schemeClr val="bg1"/>
                </a:solidFill>
                <a:latin typeface="Times New Roman" panose="02020603050405020304" pitchFamily="18" charset="0"/>
                <a:ea typeface="Times New Roman" panose="02020603050405020304" pitchFamily="18" charset="0"/>
              </a:rPr>
              <a:t>Figure:</a:t>
            </a:r>
            <a:r>
              <a:rPr lang="en-US" sz="2400" b="1" i="1" spc="-3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Classification</a:t>
            </a:r>
            <a:r>
              <a:rPr lang="en-US" sz="2400" b="1" i="1" spc="-2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Report</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for</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Random</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Forest</a:t>
            </a:r>
            <a:r>
              <a:rPr lang="en-US" sz="2400" b="1" i="1" spc="-20"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with</a:t>
            </a:r>
            <a:r>
              <a:rPr lang="en-US" sz="2400" b="1" i="1" spc="-25" dirty="0">
                <a:solidFill>
                  <a:schemeClr val="bg1"/>
                </a:solidFill>
                <a:latin typeface="Times New Roman" panose="02020603050405020304" pitchFamily="18" charset="0"/>
                <a:ea typeface="Times New Roman" panose="02020603050405020304" pitchFamily="18" charset="0"/>
              </a:rPr>
              <a:t> </a:t>
            </a:r>
            <a:r>
              <a:rPr lang="en-US" sz="2400" b="1" i="1" dirty="0">
                <a:solidFill>
                  <a:schemeClr val="bg1"/>
                </a:solidFill>
                <a:latin typeface="Times New Roman" panose="02020603050405020304" pitchFamily="18" charset="0"/>
                <a:ea typeface="Times New Roman" panose="02020603050405020304" pitchFamily="18" charset="0"/>
              </a:rPr>
              <a:t>Class</a:t>
            </a:r>
            <a:r>
              <a:rPr lang="en-US" sz="2400" b="1" i="1" spc="-15" dirty="0">
                <a:solidFill>
                  <a:schemeClr val="bg1"/>
                </a:solidFill>
                <a:latin typeface="Times New Roman" panose="02020603050405020304" pitchFamily="18" charset="0"/>
                <a:ea typeface="Times New Roman" panose="02020603050405020304" pitchFamily="18" charset="0"/>
              </a:rPr>
              <a:t> </a:t>
            </a:r>
            <a:r>
              <a:rPr lang="en-US" sz="2400" b="1" i="1" spc="-10" dirty="0">
                <a:solidFill>
                  <a:schemeClr val="bg1"/>
                </a:solidFill>
                <a:latin typeface="Times New Roman" panose="02020603050405020304" pitchFamily="18" charset="0"/>
                <a:ea typeface="Times New Roman" panose="02020603050405020304" pitchFamily="18" charset="0"/>
              </a:rPr>
              <a:t>Weights</a:t>
            </a:r>
            <a:endParaRPr lang="en-US" sz="24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886546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324949"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65</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39AC624-D0C3-0B4B-8459-9E7E2FA0DB4B}"/>
              </a:ext>
            </a:extLst>
          </p:cNvPr>
          <p:cNvSpPr txBox="1"/>
          <p:nvPr/>
        </p:nvSpPr>
        <p:spPr>
          <a:xfrm>
            <a:off x="1517798" y="1387479"/>
            <a:ext cx="15415436" cy="6740307"/>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Cosine Similarity Equation:</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cos(</a:t>
            </a:r>
            <a:r>
              <a:rPr lang="en-US" sz="2400" dirty="0" err="1">
                <a:solidFill>
                  <a:schemeClr val="bg1"/>
                </a:solidFill>
                <a:latin typeface="Times New Roman" panose="02020603050405020304" pitchFamily="18" charset="0"/>
                <a:cs typeface="Times New Roman" panose="02020603050405020304" pitchFamily="18" charset="0"/>
              </a:rPr>
              <a:t>θ</a:t>
            </a:r>
            <a:r>
              <a:rPr lang="en-US" sz="2400" dirty="0">
                <a:solidFill>
                  <a:schemeClr val="bg1"/>
                </a:solidFill>
                <a:latin typeface="Times New Roman" panose="02020603050405020304" pitchFamily="18" charset="0"/>
                <a:cs typeface="Times New Roman" panose="02020603050405020304" pitchFamily="18" charset="0"/>
              </a:rPr>
              <a:t>) = (A · B) / (||A|| * ||B||)</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Where:</a:t>
            </a:r>
            <a:endParaRPr lang="en-US" sz="2400" dirty="0">
              <a:solidFill>
                <a:schemeClr val="bg1"/>
              </a:solidFill>
              <a:latin typeface="Times New Roman" panose="02020603050405020304" pitchFamily="18" charset="0"/>
              <a:cs typeface="Times New Roman" panose="02020603050405020304" pitchFamily="18" charset="0"/>
            </a:endParaRPr>
          </a:p>
          <a:p>
            <a:pPr lvl="0" algn="just"/>
            <a:endParaRPr lang="en-US" sz="2400" dirty="0">
              <a:solidFill>
                <a:schemeClr val="bg1"/>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A and B are the feature vectors of two different facial expressions.</a:t>
            </a:r>
          </a:p>
          <a:p>
            <a:pPr marL="342900" lvl="0" indent="-342900" algn="just">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denotes the dot product of the vectors.</a:t>
            </a:r>
          </a:p>
          <a:p>
            <a:pPr marL="342900" lvl="0" indent="-342900" algn="just">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||A|| and ||B|| are the magnitudes (or Euclidean norms) of the vectors.</a:t>
            </a:r>
          </a:p>
          <a:p>
            <a:pPr algn="just"/>
            <a:r>
              <a:rPr lang="en-US" sz="2400" dirty="0">
                <a:solidFill>
                  <a:schemeClr val="bg1"/>
                </a:solidFill>
                <a:latin typeface="Times New Roman" panose="02020603050405020304" pitchFamily="18" charset="0"/>
                <a:cs typeface="Times New Roman" panose="02020603050405020304" pitchFamily="18" charset="0"/>
              </a:rPr>
              <a:t> </a:t>
            </a:r>
          </a:p>
          <a:p>
            <a:pPr algn="just"/>
            <a:r>
              <a:rPr lang="en-US" sz="2400" b="1" dirty="0">
                <a:solidFill>
                  <a:schemeClr val="bg1"/>
                </a:solidFill>
                <a:latin typeface="Times New Roman" panose="02020603050405020304" pitchFamily="18" charset="0"/>
                <a:cs typeface="Times New Roman" panose="02020603050405020304" pitchFamily="18" charset="0"/>
              </a:rPr>
              <a:t>Dynamic Radius Adjustment Equation:</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                           dynamic = r_0 + k * </a:t>
            </a:r>
            <a:r>
              <a:rPr lang="en-US" sz="2400" dirty="0" err="1">
                <a:solidFill>
                  <a:schemeClr val="bg1"/>
                </a:solidFill>
                <a:latin typeface="Times New Roman" panose="02020603050405020304" pitchFamily="18" charset="0"/>
                <a:cs typeface="Times New Roman" panose="02020603050405020304" pitchFamily="18" charset="0"/>
              </a:rPr>
              <a:t>σ</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Where:</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r_0 is the initial radius.</a:t>
            </a:r>
          </a:p>
          <a:p>
            <a:pPr marL="342900" lvl="0" indent="-342900" algn="just">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k is a scaling factor that adjusts the responsiveness of the radius.</a:t>
            </a:r>
          </a:p>
          <a:p>
            <a:pPr marL="342900" lvl="0" indent="-342900" algn="just">
              <a:buFont typeface="Arial" panose="020B0604020202020204" pitchFamily="34" charset="0"/>
              <a:buChar char="•"/>
            </a:pPr>
            <a:r>
              <a:rPr lang="en-US" sz="2400" dirty="0" err="1">
                <a:solidFill>
                  <a:schemeClr val="bg1"/>
                </a:solidFill>
                <a:latin typeface="Times New Roman" panose="02020603050405020304" pitchFamily="18" charset="0"/>
                <a:cs typeface="Times New Roman" panose="02020603050405020304" pitchFamily="18" charset="0"/>
              </a:rPr>
              <a:t>σ</a:t>
            </a:r>
            <a:r>
              <a:rPr lang="en-US" sz="2400" dirty="0">
                <a:solidFill>
                  <a:schemeClr val="bg1"/>
                </a:solidFill>
                <a:latin typeface="Times New Roman" panose="02020603050405020304" pitchFamily="18" charset="0"/>
                <a:cs typeface="Times New Roman" panose="02020603050405020304" pitchFamily="18" charset="0"/>
              </a:rPr>
              <a:t> is the standard deviation of the feature vectors.</a:t>
            </a:r>
          </a:p>
        </p:txBody>
      </p:sp>
    </p:spTree>
    <p:extLst>
      <p:ext uri="{BB962C8B-B14F-4D97-AF65-F5344CB8AC3E}">
        <p14:creationId xmlns:p14="http://schemas.microsoft.com/office/powerpoint/2010/main" val="32688793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948380" y="9794062"/>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66</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39AC624-D0C3-0B4B-8459-9E7E2FA0DB4B}"/>
              </a:ext>
            </a:extLst>
          </p:cNvPr>
          <p:cNvSpPr txBox="1"/>
          <p:nvPr/>
        </p:nvSpPr>
        <p:spPr>
          <a:xfrm>
            <a:off x="1272364" y="90832"/>
            <a:ext cx="15415436" cy="10248960"/>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Discussion </a:t>
            </a:r>
          </a:p>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Key Findings Interpreted</a:t>
            </a:r>
          </a:p>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The results clearly demonstrate the effectiveness of dynamic radius adjustment and cosine-based local transitional patterns in facial emotion detection. The logistic regression model achieved 85.87% accuracy, demonstrating its ability to detect subtle changes in facial expressions— subtleties that conventional techniques often ignore.</a:t>
            </a:r>
          </a:p>
          <a:p>
            <a:pPr algn="just"/>
            <a:r>
              <a:rPr lang="en-US" sz="2400" dirty="0">
                <a:solidFill>
                  <a:schemeClr val="bg1"/>
                </a:solidFill>
                <a:latin typeface="Times New Roman" panose="02020603050405020304" pitchFamily="18" charset="0"/>
                <a:cs typeface="Times New Roman" panose="02020603050405020304" pitchFamily="18" charset="0"/>
              </a:rPr>
              <a:t>This increase in accuracy not only indicates the development of machine learning methods, but also the potential for deeper and more complex analysis of emotional states. This is considered an important step in the development of emotional computing.</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Implications for Emotion Recognition and Affective Computing</a:t>
            </a:r>
          </a:p>
          <a:p>
            <a:pPr algn="just"/>
            <a:r>
              <a:rPr lang="en-US" sz="2400" dirty="0">
                <a:solidFill>
                  <a:schemeClr val="bg1"/>
                </a:solidFill>
                <a:latin typeface="Times New Roman" panose="02020603050405020304" pitchFamily="18" charset="0"/>
                <a:cs typeface="Times New Roman" panose="02020603050405020304" pitchFamily="18" charset="0"/>
              </a:rPr>
              <a:t>These findings have consequences that go beyond theoretical frameworks and highlight how crucial it is to incorporate complex algorithms into emotion identification systems. Accurately interpreting emotions can greatly improve human-computer interactions and result in more responsive and intuitive technologies that take into account users' emotional states.</a:t>
            </a:r>
          </a:p>
          <a:p>
            <a:pPr algn="just"/>
            <a:r>
              <a:rPr lang="en-US" sz="2400" dirty="0">
                <a:solidFill>
                  <a:schemeClr val="bg1"/>
                </a:solidFill>
                <a:latin typeface="Times New Roman" panose="02020603050405020304" pitchFamily="18" charset="0"/>
                <a:cs typeface="Times New Roman" panose="02020603050405020304" pitchFamily="18" charset="0"/>
              </a:rPr>
              <a:t> </a:t>
            </a:r>
          </a:p>
          <a:p>
            <a:pPr algn="just"/>
            <a:r>
              <a:rPr lang="en-US" sz="2400" b="1" dirty="0">
                <a:solidFill>
                  <a:schemeClr val="bg1"/>
                </a:solidFill>
                <a:latin typeface="Times New Roman" panose="02020603050405020304" pitchFamily="18" charset="0"/>
                <a:cs typeface="Times New Roman" panose="02020603050405020304" pitchFamily="18" charset="0"/>
              </a:rPr>
              <a:t>Contributions to the Field of Theory</a:t>
            </a:r>
          </a:p>
          <a:p>
            <a:pPr algn="just"/>
            <a:r>
              <a:rPr lang="en-US" sz="2400" b="1" dirty="0">
                <a:solidFill>
                  <a:schemeClr val="bg1"/>
                </a:solidFill>
                <a:latin typeface="Times New Roman" panose="02020603050405020304" pitchFamily="18" charset="0"/>
                <a:cs typeface="Times New Roman" panose="02020603050405020304" pitchFamily="18" charset="0"/>
              </a:rPr>
              <a:t> </a:t>
            </a:r>
          </a:p>
          <a:p>
            <a:pPr algn="just"/>
            <a:r>
              <a:rPr lang="en-US" sz="2400" dirty="0">
                <a:solidFill>
                  <a:schemeClr val="bg1"/>
                </a:solidFill>
                <a:latin typeface="Times New Roman" panose="02020603050405020304" pitchFamily="18" charset="0"/>
                <a:cs typeface="Times New Roman" panose="02020603050405020304" pitchFamily="18" charset="0"/>
              </a:rPr>
              <a:t>This study adds to the developing field of emotion recognition by confirming the efficacy of sophisticated computational techniques. Given the Logistic Regression model's performance, it may be necessary to reevaluate current theories and models in emotion detection, particularly with regard to the way in which subtle patterns are recognized and categorized.</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Effect on Current Emotion Detection Models and Theories</a:t>
            </a:r>
          </a:p>
          <a:p>
            <a:pPr algn="just"/>
            <a:r>
              <a:rPr lang="en-US" sz="2400" dirty="0">
                <a:solidFill>
                  <a:schemeClr val="bg1"/>
                </a:solidFill>
                <a:latin typeface="Times New Roman" panose="02020603050405020304" pitchFamily="18" charset="0"/>
                <a:cs typeface="Times New Roman" panose="02020603050405020304" pitchFamily="18" charset="0"/>
              </a:rPr>
              <a:t>The results cast doubt on conventional models that can depend on less complex feature extraction methods. In order to create more reliable emotion detection systems, they support the incorporation of dynamic elements and adaptive techniques into theoretical models.</a:t>
            </a:r>
          </a:p>
          <a:p>
            <a:pPr algn="just"/>
            <a:r>
              <a:rPr lang="en-US" sz="2400"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483071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4935200" y="9724869"/>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67</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5C43C8A-ACF8-FF46-841D-FE232667F95D}"/>
              </a:ext>
            </a:extLst>
          </p:cNvPr>
          <p:cNvSpPr txBox="1"/>
          <p:nvPr/>
        </p:nvSpPr>
        <p:spPr>
          <a:xfrm>
            <a:off x="948069" y="556482"/>
            <a:ext cx="15697200" cy="9233297"/>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Useful Consequences</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This research has important practical ramifications for real-world applications, especially in domains like interactive technologies, mental health, and customer service. Improved emotion identification skills can enhance user experiences by allowing systems to instantly adjust to users' emotional demands.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Pertinence to Practical Uses of Technology</a:t>
            </a:r>
          </a:p>
          <a:p>
            <a:pPr algn="just"/>
            <a:r>
              <a:rPr lang="en-US" sz="2400" dirty="0">
                <a:solidFill>
                  <a:schemeClr val="bg1"/>
                </a:solidFill>
                <a:latin typeface="Times New Roman" panose="02020603050405020304" pitchFamily="18" charset="0"/>
                <a:cs typeface="Times New Roman" panose="02020603050405020304" pitchFamily="18" charset="0"/>
              </a:rPr>
              <a:t>For instance, more precise emotion recognition could help teletherapy applications by enabling clinicians to better assess and react to client emotions. In a similar vein, customer care bots that are able to decipher emotional signs might offer more individualized assistance, increasing user happiness.</a:t>
            </a:r>
          </a:p>
          <a:p>
            <a:pPr lvl="1" algn="just"/>
            <a:br>
              <a:rPr lang="en-US" sz="2400" dirty="0">
                <a:solidFill>
                  <a:schemeClr val="bg1"/>
                </a:solidFill>
                <a:latin typeface="Times New Roman" panose="02020603050405020304" pitchFamily="18" charset="0"/>
                <a:cs typeface="Times New Roman" panose="02020603050405020304" pitchFamily="18" charset="0"/>
              </a:rPr>
            </a:br>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 The Study's Limitations </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Notwithstanding the encouraging outcomes, this study includes a number of drawbacks. The findings' generalizability may be limited by their reliance on the CK+ Extended dataset, which mostly consists of staged expressions rather than spontaneous ones. Furthermore, by concentrating on a small number of machine learning algorithms, the study may have missed the advantages of more recent or hybrid techniques.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Determining the Limitations and Difficulties</a:t>
            </a:r>
          </a:p>
          <a:p>
            <a:pPr algn="just"/>
            <a:r>
              <a:rPr lang="en-US" sz="2400" dirty="0">
                <a:solidFill>
                  <a:schemeClr val="bg1"/>
                </a:solidFill>
                <a:latin typeface="Times New Roman" panose="02020603050405020304" pitchFamily="18" charset="0"/>
                <a:cs typeface="Times New Roman" panose="02020603050405020304" pitchFamily="18" charset="0"/>
              </a:rPr>
              <a:t>Additionally, the dynamic radius adjustment method necessitates meticulous parameter tuning, which isn't always easy to accomplish. These limitations emphasize the necessity of continued study to improve these methods and investigate their suitability in various settings.</a:t>
            </a:r>
          </a:p>
          <a:p>
            <a:r>
              <a:rPr lang="en-US" dirty="0"/>
              <a:t> </a:t>
            </a:r>
          </a:p>
        </p:txBody>
      </p:sp>
    </p:spTree>
    <p:extLst>
      <p:ext uri="{BB962C8B-B14F-4D97-AF65-F5344CB8AC3E}">
        <p14:creationId xmlns:p14="http://schemas.microsoft.com/office/powerpoint/2010/main" val="1182600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544800" y="9463223"/>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68</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34EF49-8778-4C47-BDBB-D6B99BBDCE10}"/>
              </a:ext>
            </a:extLst>
          </p:cNvPr>
          <p:cNvSpPr txBox="1"/>
          <p:nvPr/>
        </p:nvSpPr>
        <p:spPr>
          <a:xfrm>
            <a:off x="1517798" y="1265514"/>
            <a:ext cx="15779602" cy="6278642"/>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Suggestions for Upcoming Studies</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 Future studies should try to increase the size of the training and testing dataset to encompass a wider variety of emotional expressions, especially unplanned responses in various settings. Even more reliable findings might be obtained by investigating other machine learning strategies, such as deep learning techniques.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Recommendations for Future Research in Emotion Recognition</a:t>
            </a:r>
          </a:p>
          <a:p>
            <a:pPr algn="just"/>
            <a:r>
              <a:rPr lang="en-US" sz="2400" dirty="0">
                <a:solidFill>
                  <a:schemeClr val="bg1"/>
                </a:solidFill>
                <a:latin typeface="Times New Roman" panose="02020603050405020304" pitchFamily="18" charset="0"/>
                <a:cs typeface="Times New Roman" panose="02020603050405020304" pitchFamily="18" charset="0"/>
              </a:rPr>
              <a:t>Furthermore, a more comprehensive knowledge of emotional states might be obtained by looking into the integration of multimodal data, such as voice tone, body language, and context. Multidisciplinary methods that combine technology developments with psychological insights may also improve the precision and dependability of emotion detection systems.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This chapter concludes by highlighting the importance of the study's conclusions, their theoretical and practical ramifications, and laying the groundwork for future research in the ever-evolving field of emotional computing.</a:t>
            </a:r>
          </a:p>
          <a:p>
            <a:r>
              <a:rPr lang="en-US" dirty="0"/>
              <a:t> </a:t>
            </a:r>
          </a:p>
        </p:txBody>
      </p:sp>
    </p:spTree>
    <p:extLst>
      <p:ext uri="{BB962C8B-B14F-4D97-AF65-F5344CB8AC3E}">
        <p14:creationId xmlns:p14="http://schemas.microsoft.com/office/powerpoint/2010/main" val="2735391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544800" y="9545724"/>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69</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34EF49-8778-4C47-BDBB-D6B99BBDCE10}"/>
              </a:ext>
            </a:extLst>
          </p:cNvPr>
          <p:cNvSpPr txBox="1"/>
          <p:nvPr/>
        </p:nvSpPr>
        <p:spPr>
          <a:xfrm>
            <a:off x="1517798" y="350326"/>
            <a:ext cx="15779602" cy="9510296"/>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Conclusion</a:t>
            </a:r>
          </a:p>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Research Contributions Synopsis</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 thesis presents an innovative use of cosine-based local transitional patterns with dynamic radius adjustment, which is helpful in developing a unique approach for facial expression analysis. The proposed method achieved significant improvement in emotion detection, where the logistic regression model demonstrated 85.87% accuracy. This strengthens the ability to identify complex emotional states, which is important for advanced human-computer interaction.</a:t>
            </a:r>
          </a:p>
          <a:p>
            <a:pPr algn="just"/>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research results prove the effectiveness of this technique compared to traditional methods in emotion detection and highlight the need for emotional display and model adaptation. This approach further solidifies the role and potential of modern machine learning methods in emotional computing.</a:t>
            </a:r>
          </a:p>
          <a:p>
            <a:pPr algn="just"/>
            <a:r>
              <a:rPr lang="en-US" sz="2400" dirty="0">
                <a:solidFill>
                  <a:schemeClr val="bg1"/>
                </a:solidFill>
                <a:latin typeface="Times New Roman" panose="02020603050405020304" pitchFamily="18" charset="0"/>
                <a:cs typeface="Times New Roman" panose="02020603050405020304" pitchFamily="18" charset="0"/>
              </a:rPr>
              <a:t> </a:t>
            </a:r>
          </a:p>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Wider Consequences for the Field</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The research implications are not limited to scholarly research but are widely applicable to a variety of business sectors. Advanced emotion recognition technology has the potential to completely transform sectors such as mental health, education, entertainment, and customer service, as it enables more natural and empathetic interactions between humans and machines.</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As technology advances, the use of emotion recognition systems in routine applications will become increasingly important. The research results indicate that emotional intelligence will play a key role in future human-computer interactions, where machines will be able to respond to both the user's conversation and emotional context. This improvement will pave the way for more personalized and user-friendly technological experiences.</a:t>
            </a:r>
          </a:p>
          <a:p>
            <a:pPr algn="just"/>
            <a:r>
              <a:rPr lang="en-US" sz="2400"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684883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468600"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70</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34EF49-8778-4C47-BDBB-D6B99BBDCE10}"/>
              </a:ext>
            </a:extLst>
          </p:cNvPr>
          <p:cNvSpPr txBox="1"/>
          <p:nvPr/>
        </p:nvSpPr>
        <p:spPr>
          <a:xfrm>
            <a:off x="1517798" y="350326"/>
            <a:ext cx="15779602" cy="461665"/>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74C6CB5A-9595-5D48-B939-C46C9F1AFBFE}"/>
              </a:ext>
            </a:extLst>
          </p:cNvPr>
          <p:cNvSpPr txBox="1"/>
          <p:nvPr/>
        </p:nvSpPr>
        <p:spPr>
          <a:xfrm>
            <a:off x="963133" y="1007841"/>
            <a:ext cx="15925800" cy="4524315"/>
          </a:xfrm>
          <a:prstGeom prst="rect">
            <a:avLst/>
          </a:prstGeom>
          <a:noFill/>
        </p:spPr>
        <p:txBody>
          <a:bodyPr wrap="square"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b="1" dirty="0">
                <a:solidFill>
                  <a:schemeClr val="bg1"/>
                </a:solidFill>
                <a:latin typeface="Times New Roman" panose="02020603050405020304" pitchFamily="18" charset="0"/>
                <a:cs typeface="Times New Roman" panose="02020603050405020304" pitchFamily="18" charset="0"/>
              </a:rPr>
              <a:t>Final Thoughts</a:t>
            </a:r>
          </a:p>
          <a:p>
            <a:pPr algn="just"/>
            <a:endParaRPr lang="en-US" sz="2400" b="1"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This research points to a future where emotion recognition tools will become part of everyday life, enhancing user experience and improving the responsiveness of technology.</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Further progress in this field will require continued research into dynamic algorithms and multimodal data integration. This is an important step in exploring the potential of emotional computing for improved human-computer interaction.</a:t>
            </a:r>
          </a:p>
          <a:p>
            <a:pPr algn="just"/>
            <a:endParaRPr lang="en-US" sz="2400" dirty="0">
              <a:solidFill>
                <a:schemeClr val="bg1"/>
              </a:solidFill>
              <a:latin typeface="Times New Roman" panose="02020603050405020304" pitchFamily="18" charset="0"/>
              <a:cs typeface="Times New Roman" panose="02020603050405020304" pitchFamily="18" charset="0"/>
            </a:endParaRPr>
          </a:p>
          <a:p>
            <a:pPr algn="just"/>
            <a:r>
              <a:rPr lang="en-US" sz="2400" dirty="0">
                <a:solidFill>
                  <a:schemeClr val="bg1"/>
                </a:solidFill>
                <a:latin typeface="Times New Roman" panose="02020603050405020304" pitchFamily="18" charset="0"/>
                <a:cs typeface="Times New Roman" panose="02020603050405020304" pitchFamily="18" charset="0"/>
              </a:rPr>
              <a:t>To create more emotionally sensitive technologies, capable of understanding the complexity of human expression and experience, innovation and interdisciplinary collaboration are needed. Emotion recognition research has a bright future, with researchers and practitioners committed to further expanding the potential of this field.</a:t>
            </a:r>
          </a:p>
        </p:txBody>
      </p:sp>
    </p:spTree>
    <p:extLst>
      <p:ext uri="{BB962C8B-B14F-4D97-AF65-F5344CB8AC3E}">
        <p14:creationId xmlns:p14="http://schemas.microsoft.com/office/powerpoint/2010/main" val="27227471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468600"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71</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658333" y="556482"/>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34EF49-8778-4C47-BDBB-D6B99BBDCE10}"/>
              </a:ext>
            </a:extLst>
          </p:cNvPr>
          <p:cNvSpPr txBox="1"/>
          <p:nvPr/>
        </p:nvSpPr>
        <p:spPr>
          <a:xfrm>
            <a:off x="1517798" y="350326"/>
            <a:ext cx="15779602" cy="461665"/>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74C6CB5A-9595-5D48-B939-C46C9F1AFBFE}"/>
              </a:ext>
            </a:extLst>
          </p:cNvPr>
          <p:cNvSpPr txBox="1"/>
          <p:nvPr/>
        </p:nvSpPr>
        <p:spPr>
          <a:xfrm>
            <a:off x="963133" y="1007841"/>
            <a:ext cx="15925800" cy="6832640"/>
          </a:xfrm>
          <a:prstGeom prst="rect">
            <a:avLst/>
          </a:prstGeom>
          <a:noFill/>
        </p:spPr>
        <p:txBody>
          <a:bodyPr wrap="square" rtlCol="0">
            <a:spAutoFit/>
          </a:bodyPr>
          <a:lstStyle/>
          <a:p>
            <a:pPr lvl="0" algn="ctr"/>
            <a:r>
              <a:rPr lang="en-US" sz="3600" b="1" dirty="0">
                <a:solidFill>
                  <a:schemeClr val="bg1"/>
                </a:solidFill>
                <a:latin typeface="Times New Roman" panose="02020603050405020304" pitchFamily="18" charset="0"/>
                <a:cs typeface="Times New Roman" panose="02020603050405020304" pitchFamily="18" charset="0"/>
              </a:rPr>
              <a:t>References</a:t>
            </a:r>
          </a:p>
          <a:p>
            <a:pPr algn="just"/>
            <a:r>
              <a:rPr lang="en-US" sz="2400" b="1"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lvl="1" algn="just"/>
            <a:r>
              <a:rPr lang="en-US" sz="2400" dirty="0">
                <a:solidFill>
                  <a:schemeClr val="bg1"/>
                </a:solidFill>
                <a:latin typeface="Times New Roman" panose="02020603050405020304" pitchFamily="18" charset="0"/>
                <a:cs typeface="Times New Roman" panose="02020603050405020304" pitchFamily="18" charset="0"/>
              </a:rPr>
              <a:t>1.Ahonen, T., Hadid, A., and </a:t>
            </a:r>
            <a:r>
              <a:rPr lang="en-US" sz="2400" dirty="0" err="1">
                <a:solidFill>
                  <a:schemeClr val="bg1"/>
                </a:solidFill>
                <a:latin typeface="Times New Roman" panose="02020603050405020304" pitchFamily="18" charset="0"/>
                <a:cs typeface="Times New Roman" panose="02020603050405020304" pitchFamily="18" charset="0"/>
              </a:rPr>
              <a:t>Pietikainen</a:t>
            </a:r>
            <a:r>
              <a:rPr lang="en-US" sz="2400" dirty="0">
                <a:solidFill>
                  <a:schemeClr val="bg1"/>
                </a:solidFill>
                <a:latin typeface="Times New Roman" panose="02020603050405020304" pitchFamily="18" charset="0"/>
                <a:cs typeface="Times New Roman" panose="02020603050405020304" pitchFamily="18" charset="0"/>
              </a:rPr>
              <a:t>, M. (2006). Face description with local binary patterns: Application to face recognition. Pattern Analysis and Machine Intelligence,</a:t>
            </a:r>
          </a:p>
          <a:p>
            <a:pPr lvl="1" algn="just"/>
            <a:endParaRPr lang="en-US" sz="2400" dirty="0">
              <a:solidFill>
                <a:schemeClr val="bg1"/>
              </a:solidFill>
              <a:latin typeface="Times New Roman" panose="02020603050405020304" pitchFamily="18" charset="0"/>
              <a:cs typeface="Times New Roman" panose="02020603050405020304" pitchFamily="18" charset="0"/>
            </a:endParaRPr>
          </a:p>
          <a:p>
            <a:pPr lvl="1" algn="just"/>
            <a:r>
              <a:rPr lang="en-US" sz="2400" dirty="0">
                <a:solidFill>
                  <a:schemeClr val="bg1"/>
                </a:solidFill>
                <a:latin typeface="Times New Roman" panose="02020603050405020304" pitchFamily="18" charset="0"/>
                <a:cs typeface="Times New Roman" panose="02020603050405020304" pitchFamily="18" charset="0"/>
              </a:rPr>
              <a:t>2.Arca, S., </a:t>
            </a:r>
            <a:r>
              <a:rPr lang="en-US" sz="2400" dirty="0" err="1">
                <a:solidFill>
                  <a:schemeClr val="bg1"/>
                </a:solidFill>
                <a:latin typeface="Times New Roman" panose="02020603050405020304" pitchFamily="18" charset="0"/>
                <a:cs typeface="Times New Roman" panose="02020603050405020304" pitchFamily="18" charset="0"/>
              </a:rPr>
              <a:t>Campadelli</a:t>
            </a:r>
            <a:r>
              <a:rPr lang="en-US" sz="2400" dirty="0">
                <a:solidFill>
                  <a:schemeClr val="bg1"/>
                </a:solidFill>
                <a:latin typeface="Times New Roman" panose="02020603050405020304" pitchFamily="18" charset="0"/>
                <a:cs typeface="Times New Roman" panose="02020603050405020304" pitchFamily="18" charset="0"/>
              </a:rPr>
              <a:t>, P., and </a:t>
            </a:r>
            <a:r>
              <a:rPr lang="en-US" sz="2400" dirty="0" err="1">
                <a:solidFill>
                  <a:schemeClr val="bg1"/>
                </a:solidFill>
                <a:latin typeface="Times New Roman" panose="02020603050405020304" pitchFamily="18" charset="0"/>
                <a:cs typeface="Times New Roman" panose="02020603050405020304" pitchFamily="18" charset="0"/>
              </a:rPr>
              <a:t>Lanzarotti</a:t>
            </a:r>
            <a:r>
              <a:rPr lang="en-US" sz="2400" dirty="0">
                <a:solidFill>
                  <a:schemeClr val="bg1"/>
                </a:solidFill>
                <a:latin typeface="Times New Roman" panose="02020603050405020304" pitchFamily="18" charset="0"/>
                <a:cs typeface="Times New Roman" panose="02020603050405020304" pitchFamily="18" charset="0"/>
              </a:rPr>
              <a:t>, R. (2006). A face recognition system based on automatically determined facial fiducial points. Pattern Recognition, 39(3):432–443. 4</a:t>
            </a:r>
          </a:p>
          <a:p>
            <a:pPr lvl="1" algn="just"/>
            <a:endParaRPr lang="en-US" sz="2400" dirty="0">
              <a:solidFill>
                <a:schemeClr val="bg1"/>
              </a:solidFill>
              <a:latin typeface="Times New Roman" panose="02020603050405020304" pitchFamily="18" charset="0"/>
              <a:cs typeface="Times New Roman" panose="02020603050405020304" pitchFamily="18" charset="0"/>
            </a:endParaRPr>
          </a:p>
          <a:p>
            <a:pPr lvl="1" algn="just"/>
            <a:r>
              <a:rPr lang="en-US" sz="2400" dirty="0">
                <a:solidFill>
                  <a:schemeClr val="bg1"/>
                </a:solidFill>
                <a:latin typeface="Times New Roman" panose="02020603050405020304" pitchFamily="18" charset="0"/>
                <a:cs typeface="Times New Roman" panose="02020603050405020304" pitchFamily="18" charset="0"/>
              </a:rPr>
              <a:t>3.Bartlett, M. S., </a:t>
            </a:r>
            <a:r>
              <a:rPr lang="en-US" sz="2400" dirty="0" err="1">
                <a:solidFill>
                  <a:schemeClr val="bg1"/>
                </a:solidFill>
                <a:latin typeface="Times New Roman" panose="02020603050405020304" pitchFamily="18" charset="0"/>
                <a:cs typeface="Times New Roman" panose="02020603050405020304" pitchFamily="18" charset="0"/>
              </a:rPr>
              <a:t>Movellan</a:t>
            </a:r>
            <a:r>
              <a:rPr lang="en-US" sz="2400" dirty="0">
                <a:solidFill>
                  <a:schemeClr val="bg1"/>
                </a:solidFill>
                <a:latin typeface="Times New Roman" panose="02020603050405020304" pitchFamily="18" charset="0"/>
                <a:cs typeface="Times New Roman" panose="02020603050405020304" pitchFamily="18" charset="0"/>
              </a:rPr>
              <a:t>, J. R., and </a:t>
            </a:r>
            <a:r>
              <a:rPr lang="en-US" sz="2400" dirty="0" err="1">
                <a:solidFill>
                  <a:schemeClr val="bg1"/>
                </a:solidFill>
                <a:latin typeface="Times New Roman" panose="02020603050405020304" pitchFamily="18" charset="0"/>
                <a:cs typeface="Times New Roman" panose="02020603050405020304" pitchFamily="18" charset="0"/>
              </a:rPr>
              <a:t>Sejnowski</a:t>
            </a:r>
            <a:r>
              <a:rPr lang="en-US" sz="2400" dirty="0">
                <a:solidFill>
                  <a:schemeClr val="bg1"/>
                </a:solidFill>
                <a:latin typeface="Times New Roman" panose="02020603050405020304" pitchFamily="18" charset="0"/>
                <a:cs typeface="Times New Roman" panose="02020603050405020304" pitchFamily="18" charset="0"/>
              </a:rPr>
              <a:t>, T. J. (2002). Face recognition by independent component analysis. Neural Networks, IEEE Transactions on, 13(6):1450– 1464. 18, 28</a:t>
            </a:r>
          </a:p>
          <a:p>
            <a:pPr lvl="1" algn="just"/>
            <a:endParaRPr lang="en-US" sz="2400" dirty="0">
              <a:solidFill>
                <a:schemeClr val="bg1"/>
              </a:solidFill>
              <a:latin typeface="Times New Roman" panose="02020603050405020304" pitchFamily="18" charset="0"/>
              <a:cs typeface="Times New Roman" panose="02020603050405020304" pitchFamily="18" charset="0"/>
            </a:endParaRPr>
          </a:p>
          <a:p>
            <a:pPr lvl="1" algn="just"/>
            <a:r>
              <a:rPr lang="en-US" sz="2400" dirty="0">
                <a:solidFill>
                  <a:schemeClr val="bg1"/>
                </a:solidFill>
                <a:latin typeface="Times New Roman" panose="02020603050405020304" pitchFamily="18" charset="0"/>
                <a:cs typeface="Times New Roman" panose="02020603050405020304" pitchFamily="18" charset="0"/>
              </a:rPr>
              <a:t>4.Beveridge, J., </a:t>
            </a:r>
            <a:r>
              <a:rPr lang="en-US" sz="2400" dirty="0" err="1">
                <a:solidFill>
                  <a:schemeClr val="bg1"/>
                </a:solidFill>
                <a:latin typeface="Times New Roman" panose="02020603050405020304" pitchFamily="18" charset="0"/>
                <a:cs typeface="Times New Roman" panose="02020603050405020304" pitchFamily="18" charset="0"/>
              </a:rPr>
              <a:t>Bolme</a:t>
            </a:r>
            <a:r>
              <a:rPr lang="en-US" sz="2400" dirty="0">
                <a:solidFill>
                  <a:schemeClr val="bg1"/>
                </a:solidFill>
                <a:latin typeface="Times New Roman" panose="02020603050405020304" pitchFamily="18" charset="0"/>
                <a:cs typeface="Times New Roman" panose="02020603050405020304" pitchFamily="18" charset="0"/>
              </a:rPr>
              <a:t>, D., Draper, B., and Teixeira, M. (2005). The </a:t>
            </a:r>
            <a:r>
              <a:rPr lang="en-US" sz="2400" dirty="0" err="1">
                <a:solidFill>
                  <a:schemeClr val="bg1"/>
                </a:solidFill>
                <a:latin typeface="Times New Roman" panose="02020603050405020304" pitchFamily="18" charset="0"/>
                <a:cs typeface="Times New Roman" panose="02020603050405020304" pitchFamily="18" charset="0"/>
              </a:rPr>
              <a:t>csu</a:t>
            </a:r>
            <a:r>
              <a:rPr lang="en-US" sz="2400" dirty="0">
                <a:solidFill>
                  <a:schemeClr val="bg1"/>
                </a:solidFill>
                <a:latin typeface="Times New Roman" panose="02020603050405020304" pitchFamily="18" charset="0"/>
                <a:cs typeface="Times New Roman" panose="02020603050405020304" pitchFamily="18" charset="0"/>
              </a:rPr>
              <a:t> face identification evaluation system. Machine vision and applications, 16(2):128–138. 88</a:t>
            </a:r>
          </a:p>
          <a:p>
            <a:pPr lvl="1" algn="just"/>
            <a:endParaRPr lang="en-US" sz="2400" dirty="0">
              <a:solidFill>
                <a:schemeClr val="bg1"/>
              </a:solidFill>
              <a:latin typeface="Times New Roman" panose="02020603050405020304" pitchFamily="18" charset="0"/>
              <a:cs typeface="Times New Roman" panose="02020603050405020304" pitchFamily="18" charset="0"/>
            </a:endParaRPr>
          </a:p>
          <a:p>
            <a:pPr lvl="1" algn="just"/>
            <a:r>
              <a:rPr lang="en-US" sz="2400" dirty="0">
                <a:solidFill>
                  <a:schemeClr val="bg1"/>
                </a:solidFill>
                <a:latin typeface="Times New Roman" panose="02020603050405020304" pitchFamily="18" charset="0"/>
                <a:cs typeface="Times New Roman" panose="02020603050405020304" pitchFamily="18" charset="0"/>
              </a:rPr>
              <a:t>5.Ahonen, T., Hadid, A., and </a:t>
            </a:r>
            <a:r>
              <a:rPr lang="en-US" sz="2400" dirty="0" err="1">
                <a:solidFill>
                  <a:schemeClr val="bg1"/>
                </a:solidFill>
                <a:latin typeface="Times New Roman" panose="02020603050405020304" pitchFamily="18" charset="0"/>
                <a:cs typeface="Times New Roman" panose="02020603050405020304" pitchFamily="18" charset="0"/>
              </a:rPr>
              <a:t>Pietikäinen</a:t>
            </a:r>
            <a:r>
              <a:rPr lang="en-US" sz="2400" dirty="0">
                <a:solidFill>
                  <a:schemeClr val="bg1"/>
                </a:solidFill>
                <a:latin typeface="Times New Roman" panose="02020603050405020304" pitchFamily="18" charset="0"/>
                <a:cs typeface="Times New Roman" panose="02020603050405020304" pitchFamily="18" charset="0"/>
              </a:rPr>
              <a:t>, M. (2004). Face recognition with local binary patterns. Computer Vision-ECCV 2004, pages 469–481. 7, 22, 32, 48, 54, 91, 133, 134</a:t>
            </a:r>
          </a:p>
          <a:p>
            <a:pPr algn="just"/>
            <a:r>
              <a:rPr lang="en-US" sz="2400" dirty="0">
                <a:solidFill>
                  <a:schemeClr val="bg1"/>
                </a:solidFill>
                <a:latin typeface="Times New Roman" panose="02020603050405020304" pitchFamily="18" charset="0"/>
                <a:cs typeface="Times New Roman" panose="02020603050405020304" pitchFamily="18" charset="0"/>
              </a:rPr>
              <a:t> </a:t>
            </a:r>
          </a:p>
          <a:p>
            <a:r>
              <a:rPr lang="en-US" dirty="0"/>
              <a:t> </a:t>
            </a:r>
          </a:p>
        </p:txBody>
      </p:sp>
    </p:spTree>
    <p:extLst>
      <p:ext uri="{BB962C8B-B14F-4D97-AF65-F5344CB8AC3E}">
        <p14:creationId xmlns:p14="http://schemas.microsoft.com/office/powerpoint/2010/main" val="40015376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468600"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72</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1828800" y="981904"/>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34EF49-8778-4C47-BDBB-D6B99BBDCE10}"/>
              </a:ext>
            </a:extLst>
          </p:cNvPr>
          <p:cNvSpPr txBox="1"/>
          <p:nvPr/>
        </p:nvSpPr>
        <p:spPr>
          <a:xfrm>
            <a:off x="1517798" y="350326"/>
            <a:ext cx="15779602" cy="461665"/>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74C6CB5A-9595-5D48-B939-C46C9F1AFBFE}"/>
              </a:ext>
            </a:extLst>
          </p:cNvPr>
          <p:cNvSpPr txBox="1"/>
          <p:nvPr/>
        </p:nvSpPr>
        <p:spPr>
          <a:xfrm>
            <a:off x="3581400" y="3973440"/>
            <a:ext cx="15925800" cy="1569660"/>
          </a:xfrm>
          <a:prstGeom prst="rect">
            <a:avLst/>
          </a:prstGeom>
          <a:noFill/>
        </p:spPr>
        <p:txBody>
          <a:bodyPr wrap="square" rtlCol="0">
            <a:spAutoFit/>
          </a:bodyPr>
          <a:lstStyle/>
          <a:p>
            <a:r>
              <a:rPr lang="en-US" sz="9600" dirty="0">
                <a:solidFill>
                  <a:schemeClr val="bg1"/>
                </a:solidFill>
                <a:latin typeface="Times New Roman" panose="02020603050405020304" pitchFamily="18" charset="0"/>
                <a:cs typeface="Times New Roman" panose="02020603050405020304" pitchFamily="18" charset="0"/>
              </a:rPr>
              <a:t>ANY  QUESTIONS ?</a:t>
            </a:r>
            <a:r>
              <a:rPr lang="en-US" dirty="0"/>
              <a:t> </a:t>
            </a:r>
          </a:p>
        </p:txBody>
      </p:sp>
    </p:spTree>
    <p:extLst>
      <p:ext uri="{BB962C8B-B14F-4D97-AF65-F5344CB8AC3E}">
        <p14:creationId xmlns:p14="http://schemas.microsoft.com/office/powerpoint/2010/main" val="8822205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414567"/>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05A09F-F1C8-BD43-9A67-5B19C3905464}"/>
              </a:ext>
            </a:extLst>
          </p:cNvPr>
          <p:cNvSpPr txBox="1"/>
          <p:nvPr/>
        </p:nvSpPr>
        <p:spPr>
          <a:xfrm>
            <a:off x="457200" y="1033536"/>
            <a:ext cx="16230600" cy="523220"/>
          </a:xfrm>
          <a:prstGeom prst="rect">
            <a:avLst/>
          </a:prstGeom>
          <a:noFill/>
        </p:spPr>
        <p:txBody>
          <a:bodyPr wrap="square" rtlCol="0">
            <a:spAutoFit/>
          </a:bodyPr>
          <a:lstStyle/>
          <a:p>
            <a:pPr lvl="2" algn="just"/>
            <a:r>
              <a:rPr lang="en-US" sz="2800" dirty="0"/>
              <a:t> </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D63319-2CE6-5043-9AFD-A72807CB6CE8}"/>
              </a:ext>
            </a:extLst>
          </p:cNvPr>
          <p:cNvSpPr txBox="1"/>
          <p:nvPr/>
        </p:nvSpPr>
        <p:spPr>
          <a:xfrm>
            <a:off x="15468600" y="9499685"/>
            <a:ext cx="4423367" cy="461665"/>
          </a:xfrm>
          <a:prstGeom prst="rect">
            <a:avLst/>
          </a:prstGeom>
          <a:noFill/>
        </p:spPr>
        <p:txBody>
          <a:bodyPr wrap="square" rtlCol="0">
            <a:spAutoFit/>
          </a:bodyPr>
          <a:lstStyle/>
          <a:p>
            <a:r>
              <a:rPr lang="en-US" sz="2400" dirty="0">
                <a:solidFill>
                  <a:schemeClr val="bg1">
                    <a:lumMod val="95000"/>
                  </a:schemeClr>
                </a:solidFill>
                <a:latin typeface="Times New Roman" panose="02020603050405020304" pitchFamily="18" charset="0"/>
                <a:cs typeface="Times New Roman" panose="02020603050405020304" pitchFamily="18" charset="0"/>
              </a:rPr>
              <a:t>Page No : 73</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04529E-2017-8B4F-A233-888D94547BFA}"/>
              </a:ext>
            </a:extLst>
          </p:cNvPr>
          <p:cNvSpPr txBox="1"/>
          <p:nvPr/>
        </p:nvSpPr>
        <p:spPr>
          <a:xfrm>
            <a:off x="1517798" y="1265515"/>
            <a:ext cx="15415436"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3C9EE6-419F-264F-8DB2-ECACAA3B23D2}"/>
              </a:ext>
            </a:extLst>
          </p:cNvPr>
          <p:cNvSpPr txBox="1"/>
          <p:nvPr/>
        </p:nvSpPr>
        <p:spPr>
          <a:xfrm>
            <a:off x="800100" y="1529289"/>
            <a:ext cx="16687800" cy="584775"/>
          </a:xfrm>
          <a:prstGeom prst="rect">
            <a:avLst/>
          </a:prstGeom>
          <a:noFill/>
        </p:spPr>
        <p:txBody>
          <a:bodyPr wrap="square" rtlCol="0">
            <a:spAutoFit/>
          </a:bodyPr>
          <a:lstStyle/>
          <a:p>
            <a:pPr algn="just"/>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0FAEAFE-3660-DE4A-9BC2-108CCDDFE2B0}"/>
              </a:ext>
            </a:extLst>
          </p:cNvPr>
          <p:cNvSpPr txBox="1"/>
          <p:nvPr/>
        </p:nvSpPr>
        <p:spPr>
          <a:xfrm>
            <a:off x="1828800" y="981904"/>
            <a:ext cx="16878300" cy="830997"/>
          </a:xfrm>
          <a:prstGeom prst="rect">
            <a:avLst/>
          </a:prstGeom>
          <a:noFill/>
        </p:spPr>
        <p:txBody>
          <a:bodyPr wrap="square" rtlCol="0">
            <a:spAutoFit/>
          </a:bodyPr>
          <a:lstStyle/>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34EF49-8778-4C47-BDBB-D6B99BBDCE10}"/>
              </a:ext>
            </a:extLst>
          </p:cNvPr>
          <p:cNvSpPr txBox="1"/>
          <p:nvPr/>
        </p:nvSpPr>
        <p:spPr>
          <a:xfrm>
            <a:off x="1517798" y="350326"/>
            <a:ext cx="15779602" cy="461665"/>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74C6CB5A-9595-5D48-B939-C46C9F1AFBFE}"/>
              </a:ext>
            </a:extLst>
          </p:cNvPr>
          <p:cNvSpPr txBox="1"/>
          <p:nvPr/>
        </p:nvSpPr>
        <p:spPr>
          <a:xfrm>
            <a:off x="6629400" y="4237214"/>
            <a:ext cx="15925800" cy="1569660"/>
          </a:xfrm>
          <a:prstGeom prst="rect">
            <a:avLst/>
          </a:prstGeom>
          <a:noFill/>
        </p:spPr>
        <p:txBody>
          <a:bodyPr wrap="square" rtlCol="0">
            <a:spAutoFit/>
          </a:bodyPr>
          <a:lstStyle/>
          <a:p>
            <a:r>
              <a:rPr lang="en-US" sz="9600" dirty="0">
                <a:solidFill>
                  <a:schemeClr val="bg1"/>
                </a:solidFill>
                <a:latin typeface="Times New Roman" panose="02020603050405020304" pitchFamily="18" charset="0"/>
                <a:cs typeface="Times New Roman" panose="02020603050405020304" pitchFamily="18" charset="0"/>
              </a:rPr>
              <a:t>THANKS</a:t>
            </a:r>
            <a:r>
              <a:rPr lang="en-US" dirty="0"/>
              <a:t> </a:t>
            </a:r>
          </a:p>
        </p:txBody>
      </p:sp>
    </p:spTree>
    <p:extLst>
      <p:ext uri="{BB962C8B-B14F-4D97-AF65-F5344CB8AC3E}">
        <p14:creationId xmlns:p14="http://schemas.microsoft.com/office/powerpoint/2010/main" val="3931626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1834</TotalTime>
  <Words>3121</Words>
  <Application>Microsoft Macintosh PowerPoint</Application>
  <PresentationFormat>Custom</PresentationFormat>
  <Paragraphs>604</Paragraphs>
  <Slides>73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73</vt:i4>
      </vt:variant>
    </vt:vector>
  </HeadingPairs>
  <TitlesOfParts>
    <vt:vector size="79" baseType="lpstr">
      <vt:lpstr>Times New Roman</vt:lpstr>
      <vt:lpstr>Calibri</vt:lpstr>
      <vt:lpstr>Wingdings</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Grey Geometric Abstract Thesis Defense Presentation </dc:title>
  <dc:creator/>
  <cp:lastModifiedBy>Microsoft Office User</cp:lastModifiedBy>
  <cp:revision>253</cp:revision>
  <dcterms:created xsi:type="dcterms:W3CDTF">2024-12-17T15:59:13Z</dcterms:created>
  <dcterms:modified xsi:type="dcterms:W3CDTF">2024-12-26T08:33:36Z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B4E40E496DE81D24B5545C675FBBDB4B_42</vt:lpwstr>
  </property>
  <property fmtid="{D5CDD505-2E9C-101B-9397-08002B2CF9AE}" pid="3" name="KSOProductBuildVer">
    <vt:lpwstr>1033-6.10.2.8397</vt:lpwstr>
  </property>
</Properties>
</file>